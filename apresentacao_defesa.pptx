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127137"/>
            <a:ext cx="1637664" cy="442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457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50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457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50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457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50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457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50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457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50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61802" y="2571118"/>
            <a:ext cx="310198" cy="64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69083" y="327985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D5A5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89465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EAD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67268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AD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323614" y="326953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D5A5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60445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AD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20326" y="328223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5A5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31425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AD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607626" y="3269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EAD2D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78593" y="326953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D5A5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02393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AD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78593" y="330763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EAD2D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9573" y="3269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5A5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30001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D5A5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7352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D5A5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6953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D5A5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-12"/>
            <a:ext cx="2304415" cy="116839"/>
          </a:xfrm>
          <a:custGeom>
            <a:avLst/>
            <a:gdLst/>
            <a:ahLst/>
            <a:cxnLst/>
            <a:rect l="l" t="t" r="r" b="b"/>
            <a:pathLst>
              <a:path w="2304415" h="116839">
                <a:moveTo>
                  <a:pt x="2303995" y="0"/>
                </a:moveTo>
                <a:lnTo>
                  <a:pt x="0" y="0"/>
                </a:lnTo>
                <a:lnTo>
                  <a:pt x="0" y="116687"/>
                </a:lnTo>
                <a:lnTo>
                  <a:pt x="2303995" y="116687"/>
                </a:lnTo>
                <a:lnTo>
                  <a:pt x="2303995" y="0"/>
                </a:lnTo>
                <a:close/>
              </a:path>
            </a:pathLst>
          </a:custGeom>
          <a:solidFill>
            <a:srgbClr val="4B0F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27137"/>
            <a:ext cx="2488565" cy="442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792" y="602569"/>
            <a:ext cx="4369765" cy="23625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85775" y="3342177"/>
            <a:ext cx="965200" cy="118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664800" y="3342177"/>
            <a:ext cx="160020" cy="118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348554" y="3342177"/>
            <a:ext cx="215900" cy="118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457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50"/>
              <a:t> </a:t>
            </a:r>
            <a:r>
              <a:rPr dirty="0" spc="-25"/>
              <a:t>20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0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11.xml"/><Relationship Id="rId6" Type="http://schemas.openxmlformats.org/officeDocument/2006/relationships/slide" Target="slide17.xml"/><Relationship Id="rId7" Type="http://schemas.openxmlformats.org/officeDocument/2006/relationships/slide" Target="slide18.xml"/><Relationship Id="rId8" Type="http://schemas.openxmlformats.org/officeDocument/2006/relationships/slide" Target="slide20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20.xml"/><Relationship Id="rId4" Type="http://schemas.openxmlformats.org/officeDocument/2006/relationships/slide" Target="slide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image" Target="../media/image2.jpg"/><Relationship Id="rId4" Type="http://schemas.openxmlformats.org/officeDocument/2006/relationships/slide" Target="slide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Relationship Id="rId3" Type="http://schemas.openxmlformats.org/officeDocument/2006/relationships/slide" Target="slide20.xml"/><Relationship Id="rId4" Type="http://schemas.openxmlformats.org/officeDocument/2006/relationships/slide" Target="slide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Relationship Id="rId3" Type="http://schemas.openxmlformats.org/officeDocument/2006/relationships/slide" Target="slide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7.xml"/><Relationship Id="rId3" Type="http://schemas.openxmlformats.org/officeDocument/2006/relationships/slide" Target="slide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7.xml"/><Relationship Id="rId3" Type="http://schemas.openxmlformats.org/officeDocument/2006/relationships/slide" Target="slide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7.xml"/><Relationship Id="rId3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7.xml"/><Relationship Id="rId3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1.xml"/><Relationship Id="rId3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1.xml"/><Relationship Id="rId3" Type="http://schemas.openxmlformats.org/officeDocument/2006/relationships/slide" Target="slide20.xml"/><Relationship Id="rId4" Type="http://schemas.openxmlformats.org/officeDocument/2006/relationships/image" Target="../media/image3.jpg"/><Relationship Id="rId5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1.xml"/><Relationship Id="rId3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1.xml"/><Relationship Id="rId3" Type="http://schemas.openxmlformats.org/officeDocument/2006/relationships/image" Target="../media/image4.jpg"/><Relationship Id="rId4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1.xml"/><Relationship Id="rId3" Type="http://schemas.openxmlformats.org/officeDocument/2006/relationships/image" Target="../media/image5.jpg"/><Relationship Id="rId4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1.xml"/><Relationship Id="rId3" Type="http://schemas.openxmlformats.org/officeDocument/2006/relationships/image" Target="../media/image6.jpg"/><Relationship Id="rId4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Relationship Id="rId3" Type="http://schemas.openxmlformats.org/officeDocument/2006/relationships/slide" Target="slide20.xml"/><Relationship Id="rId4" Type="http://schemas.openxmlformats.org/officeDocument/2006/relationships/slide" Target="slide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8.xml"/><Relationship Id="rId3" Type="http://schemas.openxmlformats.org/officeDocument/2006/relationships/slide" Target="slide1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8.xml"/><Relationship Id="rId3" Type="http://schemas.openxmlformats.org/officeDocument/2006/relationships/slide" Target="slide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3995" y="-12"/>
            <a:ext cx="2304415" cy="116839"/>
          </a:xfrm>
          <a:custGeom>
            <a:avLst/>
            <a:gdLst/>
            <a:ahLst/>
            <a:cxnLst/>
            <a:rect l="l" t="t" r="r" b="b"/>
            <a:pathLst>
              <a:path w="2304415" h="116839">
                <a:moveTo>
                  <a:pt x="2303995" y="0"/>
                </a:moveTo>
                <a:lnTo>
                  <a:pt x="0" y="0"/>
                </a:lnTo>
                <a:lnTo>
                  <a:pt x="0" y="116687"/>
                </a:lnTo>
                <a:lnTo>
                  <a:pt x="2303995" y="116687"/>
                </a:lnTo>
                <a:lnTo>
                  <a:pt x="230399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6492" y="552678"/>
            <a:ext cx="4355465" cy="784860"/>
          </a:xfrm>
          <a:prstGeom prst="rect"/>
          <a:solidFill>
            <a:srgbClr val="961F38"/>
          </a:solidFill>
        </p:spPr>
        <p:txBody>
          <a:bodyPr wrap="square" lIns="0" tIns="35560" rIns="0" bIns="0" rtlCol="0" vert="horz">
            <a:spAutoFit/>
          </a:bodyPr>
          <a:lstStyle/>
          <a:p>
            <a:pPr algn="ctr" marL="100965" marR="93980" indent="635">
              <a:lnSpc>
                <a:spcPct val="106700"/>
              </a:lnSpc>
              <a:spcBef>
                <a:spcPts val="280"/>
              </a:spcBef>
            </a:pPr>
            <a:r>
              <a:rPr dirty="0" spc="-40"/>
              <a:t>Caracterização</a:t>
            </a:r>
            <a:r>
              <a:rPr dirty="0" spc="-20"/>
              <a:t> </a:t>
            </a:r>
            <a:r>
              <a:rPr dirty="0" spc="-50"/>
              <a:t>de</a:t>
            </a:r>
            <a:r>
              <a:rPr dirty="0" spc="-15"/>
              <a:t> </a:t>
            </a:r>
            <a:r>
              <a:rPr dirty="0" spc="-65"/>
              <a:t>gargalos</a:t>
            </a:r>
            <a:r>
              <a:rPr dirty="0" spc="-15"/>
              <a:t> </a:t>
            </a:r>
            <a:r>
              <a:rPr dirty="0" spc="-55"/>
              <a:t>em</a:t>
            </a:r>
            <a:r>
              <a:rPr dirty="0" spc="-15"/>
              <a:t> </a:t>
            </a:r>
            <a:r>
              <a:rPr dirty="0" spc="-70"/>
              <a:t>redes</a:t>
            </a:r>
            <a:r>
              <a:rPr dirty="0" spc="-15"/>
              <a:t> </a:t>
            </a:r>
            <a:r>
              <a:rPr dirty="0" spc="-55"/>
              <a:t>802.11</a:t>
            </a:r>
            <a:r>
              <a:rPr dirty="0" spc="-15"/>
              <a:t> </a:t>
            </a:r>
            <a:r>
              <a:rPr dirty="0" spc="-25"/>
              <a:t>em </a:t>
            </a:r>
            <a:r>
              <a:rPr dirty="0" spc="-50"/>
              <a:t>ambientes</a:t>
            </a:r>
            <a:r>
              <a:rPr dirty="0" spc="-60"/>
              <a:t> </a:t>
            </a:r>
            <a:r>
              <a:rPr dirty="0" spc="-55"/>
              <a:t>de </a:t>
            </a:r>
            <a:r>
              <a:rPr dirty="0"/>
              <a:t>alta</a:t>
            </a:r>
            <a:r>
              <a:rPr dirty="0" spc="-50"/>
              <a:t> </a:t>
            </a:r>
            <a:r>
              <a:rPr dirty="0" spc="-60"/>
              <a:t>densidade:</a:t>
            </a:r>
            <a:r>
              <a:rPr dirty="0" spc="80"/>
              <a:t> </a:t>
            </a:r>
            <a:r>
              <a:rPr dirty="0" spc="-55"/>
              <a:t>estudo</a:t>
            </a:r>
            <a:r>
              <a:rPr dirty="0" spc="-50"/>
              <a:t> </a:t>
            </a:r>
            <a:r>
              <a:rPr dirty="0" spc="-55"/>
              <a:t>de </a:t>
            </a:r>
            <a:r>
              <a:rPr dirty="0" spc="-50"/>
              <a:t>caso </a:t>
            </a:r>
            <a:r>
              <a:rPr dirty="0" spc="-65"/>
              <a:t>em</a:t>
            </a:r>
            <a:r>
              <a:rPr dirty="0" spc="-45"/>
              <a:t> </a:t>
            </a:r>
            <a:r>
              <a:rPr dirty="0" spc="35"/>
              <a:t>WLAN </a:t>
            </a:r>
            <a:r>
              <a:rPr dirty="0" spc="-10"/>
              <a:t>universitária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7493" y="1526176"/>
            <a:ext cx="2753360" cy="1232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 MT"/>
                <a:cs typeface="Arial MT"/>
              </a:rPr>
              <a:t>Igor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Carvalho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Guimarães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 MT"/>
              <a:cs typeface="Arial MT"/>
            </a:endParaRPr>
          </a:p>
          <a:p>
            <a:pPr algn="ctr">
              <a:lnSpc>
                <a:spcPts val="1200"/>
              </a:lnSpc>
            </a:pPr>
            <a:r>
              <a:rPr dirty="0" sz="1000" spc="-125">
                <a:latin typeface="Arial Black"/>
                <a:cs typeface="Arial Black"/>
              </a:rPr>
              <a:t>Professor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85">
                <a:latin typeface="Arial Black"/>
                <a:cs typeface="Arial Black"/>
              </a:rPr>
              <a:t>Orientador</a:t>
            </a:r>
            <a:r>
              <a:rPr dirty="0" sz="1000" spc="-85">
                <a:latin typeface="Arial MT"/>
                <a:cs typeface="Arial MT"/>
              </a:rPr>
              <a:t>: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Marlon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Paolo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Lima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ts val="1200"/>
              </a:lnSpc>
            </a:pPr>
            <a:r>
              <a:rPr dirty="0" sz="1000" spc="-125">
                <a:latin typeface="Arial Black"/>
                <a:cs typeface="Arial Black"/>
              </a:rPr>
              <a:t>Professor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95">
                <a:latin typeface="Arial Black"/>
                <a:cs typeface="Arial Black"/>
              </a:rPr>
              <a:t>Coorientador</a:t>
            </a:r>
            <a:r>
              <a:rPr dirty="0" sz="1000" spc="-95">
                <a:latin typeface="Arial MT"/>
                <a:cs typeface="Arial MT"/>
              </a:rPr>
              <a:t>:</a:t>
            </a:r>
            <a:r>
              <a:rPr dirty="0" sz="1000" spc="6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Plínio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Roque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Almeida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000">
              <a:latin typeface="Arial MT"/>
              <a:cs typeface="Arial MT"/>
            </a:endParaRPr>
          </a:p>
          <a:p>
            <a:pPr algn="ctr" marL="635">
              <a:lnSpc>
                <a:spcPct val="100000"/>
              </a:lnSpc>
              <a:spcBef>
                <a:spcPts val="5"/>
              </a:spcBef>
            </a:pPr>
            <a:r>
              <a:rPr dirty="0" sz="700">
                <a:latin typeface="Arial MT"/>
                <a:cs typeface="Arial MT"/>
              </a:rPr>
              <a:t>ICEA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–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Universidade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Federal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de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Ouro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Preto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000" spc="-20">
                <a:latin typeface="Arial MT"/>
                <a:cs typeface="Arial MT"/>
              </a:rPr>
              <a:t>2026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6" name="object 6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50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467359"/>
          </a:xfrm>
          <a:custGeom>
            <a:avLst/>
            <a:gdLst/>
            <a:ahLst/>
            <a:cxnLst/>
            <a:rect l="l" t="t" r="r" b="b"/>
            <a:pathLst>
              <a:path w="4608195" h="467359">
                <a:moveTo>
                  <a:pt x="4608004" y="116687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16687"/>
                </a:lnTo>
                <a:lnTo>
                  <a:pt x="0" y="116687"/>
                </a:lnTo>
                <a:lnTo>
                  <a:pt x="0" y="466826"/>
                </a:lnTo>
                <a:lnTo>
                  <a:pt x="4608004" y="466826"/>
                </a:lnTo>
                <a:lnTo>
                  <a:pt x="4608004" y="116687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Sumário</a:t>
            </a:r>
          </a:p>
        </p:txBody>
      </p:sp>
      <p:sp>
        <p:nvSpPr>
          <p:cNvPr id="4" name="object 4"/>
          <p:cNvSpPr/>
          <p:nvPr/>
        </p:nvSpPr>
        <p:spPr>
          <a:xfrm>
            <a:off x="118059" y="81461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868" y="0"/>
                </a:moveTo>
                <a:lnTo>
                  <a:pt x="0" y="0"/>
                </a:lnTo>
                <a:lnTo>
                  <a:pt x="0" y="113868"/>
                </a:lnTo>
                <a:lnTo>
                  <a:pt x="113868" y="113868"/>
                </a:lnTo>
                <a:lnTo>
                  <a:pt x="113868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8059" y="120089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868" y="0"/>
                </a:moveTo>
                <a:lnTo>
                  <a:pt x="0" y="0"/>
                </a:lnTo>
                <a:lnTo>
                  <a:pt x="0" y="113868"/>
                </a:lnTo>
                <a:lnTo>
                  <a:pt x="113868" y="113868"/>
                </a:lnTo>
                <a:lnTo>
                  <a:pt x="113868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8059" y="158716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868" y="0"/>
                </a:moveTo>
                <a:lnTo>
                  <a:pt x="0" y="0"/>
                </a:lnTo>
                <a:lnTo>
                  <a:pt x="0" y="113868"/>
                </a:lnTo>
                <a:lnTo>
                  <a:pt x="113868" y="113868"/>
                </a:lnTo>
                <a:lnTo>
                  <a:pt x="113868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8059" y="19734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868" y="0"/>
                </a:moveTo>
                <a:lnTo>
                  <a:pt x="0" y="0"/>
                </a:lnTo>
                <a:lnTo>
                  <a:pt x="0" y="113868"/>
                </a:lnTo>
                <a:lnTo>
                  <a:pt x="113868" y="113868"/>
                </a:lnTo>
                <a:lnTo>
                  <a:pt x="113868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8059" y="235538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868" y="0"/>
                </a:moveTo>
                <a:lnTo>
                  <a:pt x="0" y="0"/>
                </a:lnTo>
                <a:lnTo>
                  <a:pt x="0" y="113868"/>
                </a:lnTo>
                <a:lnTo>
                  <a:pt x="113868" y="113868"/>
                </a:lnTo>
                <a:lnTo>
                  <a:pt x="113868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8059" y="27416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868" y="0"/>
                </a:moveTo>
                <a:lnTo>
                  <a:pt x="0" y="0"/>
                </a:lnTo>
                <a:lnTo>
                  <a:pt x="0" y="113868"/>
                </a:lnTo>
                <a:lnTo>
                  <a:pt x="113868" y="113868"/>
                </a:lnTo>
                <a:lnTo>
                  <a:pt x="113868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3045" y="769015"/>
            <a:ext cx="1442085" cy="2104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3830" indent="-151130">
              <a:lnSpc>
                <a:spcPct val="100000"/>
              </a:lnSpc>
              <a:spcBef>
                <a:spcPts val="95"/>
              </a:spcBef>
              <a:buClr>
                <a:srgbClr val="FFFFFF"/>
              </a:buClr>
              <a:buSzPct val="90000"/>
              <a:buFont typeface="Tahoma"/>
              <a:buAutoNum type="arabicPlain"/>
              <a:tabLst>
                <a:tab pos="163830" algn="l"/>
              </a:tabLst>
            </a:pPr>
            <a:r>
              <a:rPr dirty="0" sz="1000" spc="-10">
                <a:solidFill>
                  <a:srgbClr val="961F38"/>
                </a:solidFill>
                <a:latin typeface="Arial MT"/>
                <a:cs typeface="Arial MT"/>
                <a:hlinkClick r:id="rId2" action="ppaction://hlinksldjump"/>
              </a:rPr>
              <a:t>Introdução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0"/>
              </a:spcBef>
              <a:buClr>
                <a:srgbClr val="FFFFFF"/>
              </a:buClr>
              <a:buFont typeface="Tahoma"/>
              <a:buAutoNum type="arabicPlain"/>
            </a:pPr>
            <a:endParaRPr sz="1000">
              <a:latin typeface="Arial MT"/>
              <a:cs typeface="Arial MT"/>
            </a:endParaRPr>
          </a:p>
          <a:p>
            <a:pPr marL="163830" indent="-151130">
              <a:lnSpc>
                <a:spcPct val="100000"/>
              </a:lnSpc>
              <a:buClr>
                <a:srgbClr val="FFFFFF"/>
              </a:buClr>
              <a:buSzPct val="90000"/>
              <a:buFont typeface="Tahoma"/>
              <a:buAutoNum type="arabicPlain"/>
              <a:tabLst>
                <a:tab pos="163830" algn="l"/>
              </a:tabLst>
            </a:pPr>
            <a:r>
              <a:rPr dirty="0" sz="1000" spc="-20">
                <a:solidFill>
                  <a:srgbClr val="961F38"/>
                </a:solidFill>
                <a:latin typeface="Arial MT"/>
                <a:cs typeface="Arial MT"/>
                <a:hlinkClick r:id="rId3" action="ppaction://hlinksldjump"/>
              </a:rPr>
              <a:t>Motivação</a:t>
            </a:r>
            <a:r>
              <a:rPr dirty="0" sz="1000" spc="-30">
                <a:solidFill>
                  <a:srgbClr val="961F38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000">
                <a:solidFill>
                  <a:srgbClr val="961F38"/>
                </a:solidFill>
                <a:latin typeface="Arial MT"/>
                <a:cs typeface="Arial MT"/>
                <a:hlinkClick r:id="rId3" action="ppaction://hlinksldjump"/>
              </a:rPr>
              <a:t>e</a:t>
            </a:r>
            <a:r>
              <a:rPr dirty="0" sz="1000" spc="-30">
                <a:solidFill>
                  <a:srgbClr val="961F38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000" spc="-10">
                <a:solidFill>
                  <a:srgbClr val="961F38"/>
                </a:solidFill>
                <a:latin typeface="Arial MT"/>
                <a:cs typeface="Arial MT"/>
                <a:hlinkClick r:id="rId3" action="ppaction://hlinksldjump"/>
              </a:rPr>
              <a:t>Objetivos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0"/>
              </a:spcBef>
              <a:buClr>
                <a:srgbClr val="FFFFFF"/>
              </a:buClr>
              <a:buFont typeface="Tahoma"/>
              <a:buAutoNum type="arabicPlain"/>
            </a:pPr>
            <a:endParaRPr sz="1000">
              <a:latin typeface="Arial MT"/>
              <a:cs typeface="Arial MT"/>
            </a:endParaRPr>
          </a:p>
          <a:p>
            <a:pPr marL="163830" indent="-151130"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SzPct val="90000"/>
              <a:buFont typeface="Tahoma"/>
              <a:buAutoNum type="arabicPlain"/>
              <a:tabLst>
                <a:tab pos="163830" algn="l"/>
              </a:tabLst>
            </a:pPr>
            <a:r>
              <a:rPr dirty="0" sz="1000" spc="-10">
                <a:solidFill>
                  <a:srgbClr val="961F38"/>
                </a:solidFill>
                <a:latin typeface="Arial MT"/>
                <a:cs typeface="Arial MT"/>
                <a:hlinkClick r:id="rId4" action="ppaction://hlinksldjump"/>
              </a:rPr>
              <a:t>Metodologia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0"/>
              </a:spcBef>
              <a:buClr>
                <a:srgbClr val="FFFFFF"/>
              </a:buClr>
              <a:buFont typeface="Tahoma"/>
              <a:buAutoNum type="arabicPlain"/>
            </a:pPr>
            <a:endParaRPr sz="1000">
              <a:latin typeface="Arial MT"/>
              <a:cs typeface="Arial MT"/>
            </a:endParaRPr>
          </a:p>
          <a:p>
            <a:pPr marL="163830" indent="-151130">
              <a:lnSpc>
                <a:spcPct val="100000"/>
              </a:lnSpc>
              <a:buClr>
                <a:srgbClr val="FFFFFF"/>
              </a:buClr>
              <a:buSzPct val="90000"/>
              <a:buFont typeface="Tahoma"/>
              <a:buAutoNum type="arabicPlain"/>
              <a:tabLst>
                <a:tab pos="163830" algn="l"/>
              </a:tabLst>
            </a:pPr>
            <a:r>
              <a:rPr dirty="0" sz="1000" spc="-50">
                <a:solidFill>
                  <a:srgbClr val="961F38"/>
                </a:solidFill>
                <a:latin typeface="Arial MT"/>
                <a:cs typeface="Arial MT"/>
                <a:hlinkClick r:id="rId5" action="ppaction://hlinksldjump"/>
              </a:rPr>
              <a:t>Resultados</a:t>
            </a:r>
            <a:r>
              <a:rPr dirty="0" sz="1000" spc="-20">
                <a:solidFill>
                  <a:srgbClr val="961F38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1000">
                <a:solidFill>
                  <a:srgbClr val="961F38"/>
                </a:solidFill>
                <a:latin typeface="Arial MT"/>
                <a:cs typeface="Arial MT"/>
                <a:hlinkClick r:id="rId5" action="ppaction://hlinksldjump"/>
              </a:rPr>
              <a:t>e</a:t>
            </a:r>
            <a:r>
              <a:rPr dirty="0" sz="1000" spc="-40">
                <a:solidFill>
                  <a:srgbClr val="961F38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1000" spc="-70">
                <a:solidFill>
                  <a:srgbClr val="961F38"/>
                </a:solidFill>
                <a:latin typeface="Arial MT"/>
                <a:cs typeface="Arial MT"/>
                <a:hlinkClick r:id="rId5" action="ppaction://hlinksldjump"/>
              </a:rPr>
              <a:t>Discussões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Clr>
                <a:srgbClr val="FFFFFF"/>
              </a:buClr>
              <a:buFont typeface="Tahoma"/>
              <a:buAutoNum type="arabicPlain"/>
            </a:pPr>
            <a:endParaRPr sz="1000">
              <a:latin typeface="Arial MT"/>
              <a:cs typeface="Arial MT"/>
            </a:endParaRPr>
          </a:p>
          <a:p>
            <a:pPr marL="163830" indent="-151130">
              <a:lnSpc>
                <a:spcPct val="100000"/>
              </a:lnSpc>
              <a:buClr>
                <a:srgbClr val="FFFFFF"/>
              </a:buClr>
              <a:buSzPct val="90000"/>
              <a:buFont typeface="Tahoma"/>
              <a:buAutoNum type="arabicPlain"/>
              <a:tabLst>
                <a:tab pos="163830" algn="l"/>
              </a:tabLst>
            </a:pPr>
            <a:r>
              <a:rPr dirty="0" sz="1000" spc="-75">
                <a:solidFill>
                  <a:srgbClr val="961F38"/>
                </a:solidFill>
                <a:latin typeface="Arial MT"/>
                <a:cs typeface="Arial MT"/>
                <a:hlinkClick r:id="rId6" action="ppaction://hlinksldjump"/>
              </a:rPr>
              <a:t>Recomendações</a:t>
            </a:r>
            <a:r>
              <a:rPr dirty="0" sz="1000" spc="5">
                <a:solidFill>
                  <a:srgbClr val="961F38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000">
                <a:solidFill>
                  <a:srgbClr val="961F38"/>
                </a:solidFill>
                <a:latin typeface="Arial MT"/>
                <a:cs typeface="Arial MT"/>
                <a:hlinkClick r:id="rId6" action="ppaction://hlinksldjump"/>
              </a:rPr>
              <a:t>e</a:t>
            </a:r>
            <a:r>
              <a:rPr dirty="0" sz="1000" spc="-25">
                <a:solidFill>
                  <a:srgbClr val="961F38"/>
                </a:solidFill>
                <a:latin typeface="Arial MT"/>
                <a:cs typeface="Arial MT"/>
                <a:hlinkClick r:id="rId6" action="ppaction://hlinksldjump"/>
              </a:rPr>
              <a:t> QoS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Clr>
                <a:srgbClr val="FFFFFF"/>
              </a:buClr>
              <a:buFont typeface="Tahoma"/>
              <a:buAutoNum type="arabicPlain"/>
            </a:pPr>
            <a:endParaRPr sz="1000">
              <a:latin typeface="Arial MT"/>
              <a:cs typeface="Arial MT"/>
            </a:endParaRPr>
          </a:p>
          <a:p>
            <a:pPr marL="163830" indent="-151130">
              <a:lnSpc>
                <a:spcPct val="100000"/>
              </a:lnSpc>
              <a:buClr>
                <a:srgbClr val="FFFFFF"/>
              </a:buClr>
              <a:buSzPct val="90000"/>
              <a:buFont typeface="Tahoma"/>
              <a:buAutoNum type="arabicPlain"/>
              <a:tabLst>
                <a:tab pos="163830" algn="l"/>
              </a:tabLst>
            </a:pPr>
            <a:r>
              <a:rPr dirty="0" sz="1000" spc="-10">
                <a:solidFill>
                  <a:srgbClr val="961F38"/>
                </a:solidFill>
                <a:latin typeface="Arial MT"/>
                <a:cs typeface="Arial MT"/>
                <a:hlinkClick r:id="rId7" action="ppaction://hlinksldjump"/>
              </a:rPr>
              <a:t>Conclusões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2" name="object 12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50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3790" y="-1451"/>
            <a:ext cx="32702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Introdução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600075"/>
          </a:xfrm>
          <a:custGeom>
            <a:avLst/>
            <a:gdLst/>
            <a:ahLst/>
            <a:cxnLst/>
            <a:rect l="l" t="t" r="r" b="b"/>
            <a:pathLst>
              <a:path w="4608195" h="600075">
                <a:moveTo>
                  <a:pt x="4607992" y="0"/>
                </a:moveTo>
                <a:lnTo>
                  <a:pt x="2303996" y="0"/>
                </a:lnTo>
                <a:lnTo>
                  <a:pt x="2303996" y="116687"/>
                </a:lnTo>
                <a:lnTo>
                  <a:pt x="4607992" y="116687"/>
                </a:lnTo>
                <a:lnTo>
                  <a:pt x="4607992" y="0"/>
                </a:lnTo>
                <a:close/>
              </a:path>
              <a:path w="4608195" h="600075">
                <a:moveTo>
                  <a:pt x="4608004" y="116700"/>
                </a:moveTo>
                <a:lnTo>
                  <a:pt x="0" y="116700"/>
                </a:lnTo>
                <a:lnTo>
                  <a:pt x="0" y="599668"/>
                </a:lnTo>
                <a:lnTo>
                  <a:pt x="4608004" y="599668"/>
                </a:lnTo>
                <a:lnTo>
                  <a:pt x="4608004" y="11670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pc="-10"/>
              <a:t>Introdução</a:t>
            </a: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800" spc="-10">
                <a:latin typeface="Arial MT"/>
                <a:cs typeface="Arial MT"/>
              </a:rPr>
              <a:t>Contextualização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da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35">
                <a:latin typeface="Arial MT"/>
                <a:cs typeface="Arial MT"/>
              </a:rPr>
              <a:t>Rede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Sem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Fio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Universitária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045" y="102057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47078" rIns="0" bIns="0" rtlCol="0" vert="horz">
            <a:spAutoFit/>
          </a:bodyPr>
          <a:lstStyle/>
          <a:p>
            <a:pPr marL="265430" marR="33655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As</a:t>
            </a:r>
            <a:r>
              <a:rPr dirty="0" spc="-45"/>
              <a:t> </a:t>
            </a:r>
            <a:r>
              <a:rPr dirty="0" spc="-70"/>
              <a:t>redes</a:t>
            </a:r>
            <a:r>
              <a:rPr dirty="0"/>
              <a:t> </a:t>
            </a:r>
            <a:r>
              <a:rPr dirty="0" spc="-35"/>
              <a:t>locais</a:t>
            </a:r>
            <a:r>
              <a:rPr dirty="0" spc="-5"/>
              <a:t> </a:t>
            </a:r>
            <a:r>
              <a:rPr dirty="0" spc="-90"/>
              <a:t>sem</a:t>
            </a:r>
            <a:r>
              <a:rPr dirty="0" spc="25"/>
              <a:t> </a:t>
            </a:r>
            <a:r>
              <a:rPr dirty="0"/>
              <a:t>fio</a:t>
            </a:r>
            <a:r>
              <a:rPr dirty="0" spc="-10"/>
              <a:t> </a:t>
            </a:r>
            <a:r>
              <a:rPr dirty="0" spc="-40"/>
              <a:t>(</a:t>
            </a:r>
            <a:r>
              <a:rPr dirty="0" spc="-40" i="1">
                <a:latin typeface="Arial"/>
                <a:cs typeface="Arial"/>
              </a:rPr>
              <a:t>Wireless</a:t>
            </a:r>
            <a:r>
              <a:rPr dirty="0" spc="-10" i="1">
                <a:latin typeface="Arial"/>
                <a:cs typeface="Arial"/>
              </a:rPr>
              <a:t> </a:t>
            </a:r>
            <a:r>
              <a:rPr dirty="0" spc="-20" i="1">
                <a:latin typeface="Arial"/>
                <a:cs typeface="Arial"/>
              </a:rPr>
              <a:t>Local</a:t>
            </a:r>
            <a:r>
              <a:rPr dirty="0" spc="-5" i="1">
                <a:latin typeface="Arial"/>
                <a:cs typeface="Arial"/>
              </a:rPr>
              <a:t> </a:t>
            </a:r>
            <a:r>
              <a:rPr dirty="0" spc="-30" i="1">
                <a:latin typeface="Arial"/>
                <a:cs typeface="Arial"/>
              </a:rPr>
              <a:t>Area</a:t>
            </a:r>
            <a:r>
              <a:rPr dirty="0" spc="-10" i="1">
                <a:latin typeface="Arial"/>
                <a:cs typeface="Arial"/>
              </a:rPr>
              <a:t> </a:t>
            </a:r>
            <a:r>
              <a:rPr dirty="0" spc="-35" i="1">
                <a:latin typeface="Arial"/>
                <a:cs typeface="Arial"/>
              </a:rPr>
              <a:t>Networks</a:t>
            </a:r>
            <a:r>
              <a:rPr dirty="0" spc="60" i="1">
                <a:latin typeface="Arial"/>
                <a:cs typeface="Arial"/>
              </a:rPr>
              <a:t> </a:t>
            </a:r>
            <a:r>
              <a:rPr dirty="0"/>
              <a:t>–</a:t>
            </a:r>
            <a:r>
              <a:rPr dirty="0" spc="-10"/>
              <a:t> WLANs) </a:t>
            </a:r>
            <a:r>
              <a:rPr dirty="0" spc="-35"/>
              <a:t>corporativas</a:t>
            </a:r>
            <a:r>
              <a:rPr dirty="0" spc="-1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 spc="-40"/>
              <a:t>universitárias</a:t>
            </a:r>
            <a:r>
              <a:rPr dirty="0" spc="-10"/>
              <a:t> lidam</a:t>
            </a:r>
            <a:r>
              <a:rPr dirty="0" spc="-5"/>
              <a:t> </a:t>
            </a:r>
            <a:r>
              <a:rPr dirty="0" spc="-35"/>
              <a:t>com</a:t>
            </a:r>
            <a:r>
              <a:rPr dirty="0" spc="-10"/>
              <a:t> </a:t>
            </a:r>
            <a:r>
              <a:rPr dirty="0"/>
              <a:t>alta</a:t>
            </a:r>
            <a:r>
              <a:rPr dirty="0" spc="-10"/>
              <a:t> </a:t>
            </a:r>
            <a:r>
              <a:rPr dirty="0" spc="-60"/>
              <a:t>densidade</a:t>
            </a:r>
            <a:r>
              <a:rPr dirty="0" spc="-5"/>
              <a:t> </a:t>
            </a:r>
            <a:r>
              <a:rPr dirty="0" spc="-30"/>
              <a:t>de</a:t>
            </a:r>
            <a:r>
              <a:rPr dirty="0" spc="-5"/>
              <a:t> </a:t>
            </a:r>
            <a:r>
              <a:rPr dirty="0" spc="-55"/>
              <a:t>usuários</a:t>
            </a:r>
            <a:r>
              <a:rPr dirty="0" spc="-10"/>
              <a:t> </a:t>
            </a:r>
            <a:r>
              <a:rPr dirty="0" spc="-50"/>
              <a:t>e </a:t>
            </a:r>
            <a:r>
              <a:rPr dirty="0" spc="-35"/>
              <a:t>variabilidade</a:t>
            </a:r>
            <a:r>
              <a:rPr dirty="0" spc="-20"/>
              <a:t> </a:t>
            </a:r>
            <a:r>
              <a:rPr dirty="0" spc="-30"/>
              <a:t>de</a:t>
            </a:r>
            <a:r>
              <a:rPr dirty="0" spc="-15"/>
              <a:t> </a:t>
            </a:r>
            <a:r>
              <a:rPr dirty="0" spc="-25"/>
              <a:t>perfis</a:t>
            </a:r>
            <a:r>
              <a:rPr dirty="0" spc="-20"/>
              <a:t> de</a:t>
            </a:r>
            <a:r>
              <a:rPr dirty="0" spc="-15"/>
              <a:t> </a:t>
            </a:r>
            <a:r>
              <a:rPr dirty="0" spc="-10"/>
              <a:t>tráfego.</a:t>
            </a:r>
          </a:p>
          <a:p>
            <a:pPr marL="265430" marR="41910">
              <a:lnSpc>
                <a:spcPct val="100000"/>
              </a:lnSpc>
              <a:spcBef>
                <a:spcPts val="285"/>
              </a:spcBef>
            </a:pPr>
            <a:r>
              <a:rPr dirty="0"/>
              <a:t>No</a:t>
            </a:r>
            <a:r>
              <a:rPr dirty="0" spc="-15"/>
              <a:t> </a:t>
            </a:r>
            <a:r>
              <a:rPr dirty="0" spc="-55"/>
              <a:t>campus</a:t>
            </a:r>
            <a:r>
              <a:rPr dirty="0" spc="-15"/>
              <a:t> </a:t>
            </a:r>
            <a:r>
              <a:rPr dirty="0"/>
              <a:t>do</a:t>
            </a:r>
            <a:r>
              <a:rPr dirty="0" spc="-10"/>
              <a:t> </a:t>
            </a:r>
            <a:r>
              <a:rPr dirty="0"/>
              <a:t>Instituto</a:t>
            </a:r>
            <a:r>
              <a:rPr dirty="0" spc="-15"/>
              <a:t> </a:t>
            </a:r>
            <a:r>
              <a:rPr dirty="0" spc="-30"/>
              <a:t>de</a:t>
            </a:r>
            <a:r>
              <a:rPr dirty="0" spc="-10"/>
              <a:t> </a:t>
            </a:r>
            <a:r>
              <a:rPr dirty="0" spc="-50"/>
              <a:t>Ciências</a:t>
            </a:r>
            <a:r>
              <a:rPr dirty="0" spc="-15"/>
              <a:t> </a:t>
            </a:r>
            <a:r>
              <a:rPr dirty="0" spc="-40"/>
              <a:t>Exatas</a:t>
            </a:r>
            <a:r>
              <a:rPr dirty="0" spc="-5"/>
              <a:t> </a:t>
            </a:r>
            <a:r>
              <a:rPr dirty="0"/>
              <a:t>e</a:t>
            </a:r>
            <a:r>
              <a:rPr dirty="0" spc="-15"/>
              <a:t> </a:t>
            </a:r>
            <a:r>
              <a:rPr dirty="0" spc="-40"/>
              <a:t>Aplicadas</a:t>
            </a:r>
            <a:r>
              <a:rPr dirty="0" spc="-10"/>
              <a:t> </a:t>
            </a:r>
            <a:r>
              <a:rPr dirty="0"/>
              <a:t>(ICEA/UFOP),</a:t>
            </a:r>
            <a:r>
              <a:rPr dirty="0" spc="-15"/>
              <a:t> </a:t>
            </a:r>
            <a:r>
              <a:rPr dirty="0" spc="-50"/>
              <a:t>a </a:t>
            </a:r>
            <a:r>
              <a:rPr dirty="0" spc="-25"/>
              <a:t>infraestrutura</a:t>
            </a:r>
            <a:r>
              <a:rPr dirty="0"/>
              <a:t> </a:t>
            </a:r>
            <a:r>
              <a:rPr dirty="0" spc="-35"/>
              <a:t>atende</a:t>
            </a:r>
            <a:r>
              <a:rPr dirty="0" spc="5"/>
              <a:t> </a:t>
            </a:r>
            <a:r>
              <a:rPr dirty="0" spc="-45"/>
              <a:t>estudantes,</a:t>
            </a:r>
            <a:r>
              <a:rPr dirty="0" spc="5"/>
              <a:t> </a:t>
            </a:r>
            <a:r>
              <a:rPr dirty="0" spc="-65"/>
              <a:t>professores</a:t>
            </a:r>
            <a:r>
              <a:rPr dirty="0" spc="10"/>
              <a:t> </a:t>
            </a:r>
            <a:r>
              <a:rPr dirty="0"/>
              <a:t>e</a:t>
            </a:r>
            <a:r>
              <a:rPr dirty="0" spc="5"/>
              <a:t> </a:t>
            </a:r>
            <a:r>
              <a:rPr dirty="0" spc="-60"/>
              <a:t>servidores</a:t>
            </a:r>
            <a:r>
              <a:rPr dirty="0" spc="10"/>
              <a:t> </a:t>
            </a:r>
            <a:r>
              <a:rPr dirty="0" spc="-35"/>
              <a:t>com</a:t>
            </a:r>
            <a:r>
              <a:rPr dirty="0" spc="5"/>
              <a:t> </a:t>
            </a:r>
            <a:r>
              <a:rPr dirty="0" spc="-10"/>
              <a:t>demandas diversificadas.</a:t>
            </a:r>
          </a:p>
          <a:p>
            <a:pPr marL="265430" marR="69850">
              <a:lnSpc>
                <a:spcPct val="100000"/>
              </a:lnSpc>
              <a:spcBef>
                <a:spcPts val="285"/>
              </a:spcBef>
            </a:pPr>
            <a:r>
              <a:rPr dirty="0" spc="-50"/>
              <a:t>Cenário</a:t>
            </a:r>
            <a:r>
              <a:rPr dirty="0" spc="-15"/>
              <a:t> </a:t>
            </a:r>
            <a:r>
              <a:rPr dirty="0" spc="-50"/>
              <a:t>pós-</a:t>
            </a:r>
            <a:r>
              <a:rPr dirty="0" spc="-45"/>
              <a:t>pandemia:</a:t>
            </a:r>
            <a:r>
              <a:rPr dirty="0" spc="75"/>
              <a:t> </a:t>
            </a:r>
            <a:r>
              <a:rPr dirty="0" spc="-25"/>
              <a:t>Aumento</a:t>
            </a:r>
            <a:r>
              <a:rPr dirty="0" spc="-15"/>
              <a:t> </a:t>
            </a:r>
            <a:r>
              <a:rPr dirty="0" spc="-25"/>
              <a:t>drástico</a:t>
            </a:r>
            <a:r>
              <a:rPr dirty="0" spc="-10"/>
              <a:t> </a:t>
            </a:r>
            <a:r>
              <a:rPr dirty="0"/>
              <a:t>do</a:t>
            </a:r>
            <a:r>
              <a:rPr dirty="0" spc="-15"/>
              <a:t> </a:t>
            </a:r>
            <a:r>
              <a:rPr dirty="0" spc="-50"/>
              <a:t>consumo</a:t>
            </a:r>
            <a:r>
              <a:rPr dirty="0" spc="-15"/>
              <a:t> </a:t>
            </a:r>
            <a:r>
              <a:rPr dirty="0" spc="-20"/>
              <a:t>de</a:t>
            </a:r>
            <a:r>
              <a:rPr dirty="0" spc="-10"/>
              <a:t> </a:t>
            </a:r>
            <a:r>
              <a:rPr dirty="0" spc="-40"/>
              <a:t>banda</a:t>
            </a:r>
            <a:r>
              <a:rPr dirty="0" spc="-10"/>
              <a:t> </a:t>
            </a:r>
            <a:r>
              <a:rPr dirty="0" spc="-25"/>
              <a:t>por </a:t>
            </a:r>
            <a:r>
              <a:rPr dirty="0" spc="-50"/>
              <a:t>aplicações</a:t>
            </a:r>
            <a:r>
              <a:rPr dirty="0" spc="10"/>
              <a:t> </a:t>
            </a:r>
            <a:r>
              <a:rPr dirty="0" spc="-65"/>
              <a:t>síncronas</a:t>
            </a:r>
            <a:r>
              <a:rPr dirty="0" spc="5"/>
              <a:t> </a:t>
            </a:r>
            <a:r>
              <a:rPr dirty="0" spc="-30"/>
              <a:t>de</a:t>
            </a:r>
            <a:r>
              <a:rPr dirty="0" spc="10"/>
              <a:t> </a:t>
            </a:r>
            <a:r>
              <a:rPr dirty="0" spc="-50"/>
              <a:t>vídeo,</a:t>
            </a:r>
            <a:r>
              <a:rPr dirty="0" spc="5"/>
              <a:t> </a:t>
            </a:r>
            <a:r>
              <a:rPr dirty="0" spc="-65"/>
              <a:t>chamadas</a:t>
            </a:r>
            <a:r>
              <a:rPr dirty="0" spc="15"/>
              <a:t> </a:t>
            </a:r>
            <a:r>
              <a:rPr dirty="0" spc="-40"/>
              <a:t>remotas</a:t>
            </a:r>
            <a:r>
              <a:rPr dirty="0" spc="10"/>
              <a:t> </a:t>
            </a:r>
            <a:r>
              <a:rPr dirty="0"/>
              <a:t>e</a:t>
            </a:r>
            <a:r>
              <a:rPr dirty="0" spc="10"/>
              <a:t> </a:t>
            </a:r>
            <a:r>
              <a:rPr dirty="0" spc="-35"/>
              <a:t>plataformas</a:t>
            </a:r>
            <a:r>
              <a:rPr dirty="0" spc="5"/>
              <a:t> </a:t>
            </a:r>
            <a:r>
              <a:rPr dirty="0" spc="-20"/>
              <a:t>de</a:t>
            </a:r>
            <a:r>
              <a:rPr dirty="0" spc="15"/>
              <a:t> </a:t>
            </a:r>
            <a:r>
              <a:rPr dirty="0" spc="-10"/>
              <a:t>apoio pedagógico.</a:t>
            </a:r>
          </a:p>
          <a:p>
            <a:pPr marL="265430" marR="5080">
              <a:lnSpc>
                <a:spcPct val="100000"/>
              </a:lnSpc>
              <a:spcBef>
                <a:spcPts val="285"/>
              </a:spcBef>
            </a:pPr>
            <a:r>
              <a:rPr dirty="0" spc="-25"/>
              <a:t>Infraestrutura </a:t>
            </a:r>
            <a:r>
              <a:rPr dirty="0" spc="-30"/>
              <a:t>híbrida</a:t>
            </a:r>
            <a:r>
              <a:rPr dirty="0"/>
              <a:t> </a:t>
            </a:r>
            <a:r>
              <a:rPr dirty="0" spc="-50"/>
              <a:t>sob</a:t>
            </a:r>
            <a:r>
              <a:rPr dirty="0"/>
              <a:t> </a:t>
            </a:r>
            <a:r>
              <a:rPr dirty="0" spc="-40"/>
              <a:t>análise:</a:t>
            </a:r>
            <a:r>
              <a:rPr dirty="0" spc="95"/>
              <a:t> </a:t>
            </a:r>
            <a:r>
              <a:rPr dirty="0" spc="-40"/>
              <a:t>Controladoras</a:t>
            </a:r>
            <a:r>
              <a:rPr dirty="0"/>
              <a:t> e</a:t>
            </a:r>
            <a:r>
              <a:rPr dirty="0" spc="5"/>
              <a:t> </a:t>
            </a:r>
            <a:r>
              <a:rPr dirty="0" spc="-25"/>
              <a:t>pontos</a:t>
            </a:r>
            <a:r>
              <a:rPr dirty="0" spc="5"/>
              <a:t> </a:t>
            </a:r>
            <a:r>
              <a:rPr dirty="0" spc="-30"/>
              <a:t>de</a:t>
            </a:r>
            <a:r>
              <a:rPr dirty="0"/>
              <a:t> </a:t>
            </a:r>
            <a:r>
              <a:rPr dirty="0" spc="-90"/>
              <a:t>acesso</a:t>
            </a:r>
            <a:r>
              <a:rPr dirty="0" spc="20"/>
              <a:t> </a:t>
            </a:r>
            <a:r>
              <a:rPr dirty="0" spc="-25"/>
              <a:t>de </a:t>
            </a:r>
            <a:r>
              <a:rPr dirty="0" spc="-35"/>
              <a:t>diferentes</a:t>
            </a:r>
            <a:r>
              <a:rPr dirty="0" spc="-30"/>
              <a:t> </a:t>
            </a:r>
            <a:r>
              <a:rPr dirty="0" spc="-35"/>
              <a:t>fabricantes</a:t>
            </a:r>
            <a:r>
              <a:rPr dirty="0" spc="-10"/>
              <a:t> </a:t>
            </a:r>
            <a:r>
              <a:rPr dirty="0" spc="-45"/>
              <a:t>concorrendo</a:t>
            </a:r>
            <a:r>
              <a:rPr dirty="0" spc="-15"/>
              <a:t> </a:t>
            </a:r>
            <a:r>
              <a:rPr dirty="0"/>
              <a:t>no</a:t>
            </a:r>
            <a:r>
              <a:rPr dirty="0" spc="-10"/>
              <a:t> </a:t>
            </a:r>
            <a:r>
              <a:rPr dirty="0" spc="-75"/>
              <a:t>mesmo</a:t>
            </a:r>
            <a:r>
              <a:rPr dirty="0" spc="10"/>
              <a:t> </a:t>
            </a:r>
            <a:r>
              <a:rPr dirty="0" spc="-30"/>
              <a:t>meio</a:t>
            </a:r>
            <a:r>
              <a:rPr dirty="0" spc="-15"/>
              <a:t> </a:t>
            </a:r>
            <a:r>
              <a:rPr dirty="0" spc="-25"/>
              <a:t>físico</a:t>
            </a:r>
            <a:r>
              <a:rPr dirty="0" spc="-10"/>
              <a:t> </a:t>
            </a:r>
            <a:r>
              <a:rPr dirty="0" spc="-30"/>
              <a:t>de</a:t>
            </a:r>
            <a:r>
              <a:rPr dirty="0" spc="-10"/>
              <a:t> </a:t>
            </a:r>
            <a:r>
              <a:rPr dirty="0" spc="-20"/>
              <a:t>RF</a:t>
            </a:r>
            <a:r>
              <a:rPr dirty="0" spc="-10"/>
              <a:t> </a:t>
            </a:r>
            <a:r>
              <a:rPr dirty="0" spc="-40"/>
              <a:t>(Ruckus</a:t>
            </a:r>
            <a:r>
              <a:rPr dirty="0" spc="-10"/>
              <a:t> </a:t>
            </a:r>
            <a:r>
              <a:rPr dirty="0" spc="-50"/>
              <a:t>e </a:t>
            </a:r>
            <a:r>
              <a:rPr dirty="0"/>
              <a:t>UniFi)</a:t>
            </a:r>
            <a:r>
              <a:rPr dirty="0" spc="-30"/>
              <a:t> </a:t>
            </a:r>
            <a:r>
              <a:rPr dirty="0" spc="-30">
                <a:hlinkClick r:id="rId3" action="ppaction://hlinksldjump"/>
              </a:rPr>
              <a:t>(Cisco</a:t>
            </a:r>
            <a:r>
              <a:rPr dirty="0" spc="-15">
                <a:hlinkClick r:id="rId3" action="ppaction://hlinksldjump"/>
              </a:rPr>
              <a:t> </a:t>
            </a:r>
            <a:r>
              <a:rPr dirty="0" spc="-55">
                <a:hlinkClick r:id="rId3" action="ppaction://hlinksldjump"/>
              </a:rPr>
              <a:t>Systems,</a:t>
            </a:r>
            <a:r>
              <a:rPr dirty="0" spc="-15"/>
              <a:t> </a:t>
            </a:r>
            <a:r>
              <a:rPr dirty="0" spc="-10">
                <a:hlinkClick r:id="rId3" action="ppaction://hlinksldjump"/>
              </a:rPr>
              <a:t>2020).</a:t>
            </a:r>
          </a:p>
        </p:txBody>
      </p:sp>
      <p:sp>
        <p:nvSpPr>
          <p:cNvPr id="7" name="object 7"/>
          <p:cNvSpPr/>
          <p:nvPr/>
        </p:nvSpPr>
        <p:spPr>
          <a:xfrm>
            <a:off x="260045" y="151401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0045" y="200747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0045" y="250092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1" name="object 11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382147" y="3342177"/>
            <a:ext cx="18224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125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25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3790" y="-1451"/>
            <a:ext cx="32702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Introdução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600075"/>
          </a:xfrm>
          <a:custGeom>
            <a:avLst/>
            <a:gdLst/>
            <a:ahLst/>
            <a:cxnLst/>
            <a:rect l="l" t="t" r="r" b="b"/>
            <a:pathLst>
              <a:path w="4608195" h="600075">
                <a:moveTo>
                  <a:pt x="4607992" y="0"/>
                </a:moveTo>
                <a:lnTo>
                  <a:pt x="2303996" y="0"/>
                </a:lnTo>
                <a:lnTo>
                  <a:pt x="2303996" y="116687"/>
                </a:lnTo>
                <a:lnTo>
                  <a:pt x="4607992" y="116687"/>
                </a:lnTo>
                <a:lnTo>
                  <a:pt x="4607992" y="0"/>
                </a:lnTo>
                <a:close/>
              </a:path>
              <a:path w="4608195" h="600075">
                <a:moveTo>
                  <a:pt x="4608004" y="116700"/>
                </a:moveTo>
                <a:lnTo>
                  <a:pt x="0" y="116700"/>
                </a:lnTo>
                <a:lnTo>
                  <a:pt x="0" y="599668"/>
                </a:lnTo>
                <a:lnTo>
                  <a:pt x="4608004" y="599668"/>
                </a:lnTo>
                <a:lnTo>
                  <a:pt x="4608004" y="11670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pc="-10"/>
              <a:t>Introdução</a:t>
            </a: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800">
                <a:latin typeface="Arial MT"/>
                <a:cs typeface="Arial MT"/>
              </a:rPr>
              <a:t>Arquitetura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Coleta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Infraestrutura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Híbrida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5548" y="914798"/>
            <a:ext cx="3396863" cy="172718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67003" y="2701399"/>
            <a:ext cx="307403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961F38"/>
                </a:solidFill>
                <a:latin typeface="Tahoma"/>
                <a:cs typeface="Tahoma"/>
              </a:rPr>
              <a:t>Figura:</a:t>
            </a:r>
            <a:r>
              <a:rPr dirty="0" sz="900" spc="-1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Mapa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de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Calor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Operacional (Visualização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via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Grafana)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8" name="object 8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5991" y="-1451"/>
            <a:ext cx="65532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Motivação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Objetivos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467359"/>
          </a:xfrm>
          <a:custGeom>
            <a:avLst/>
            <a:gdLst/>
            <a:ahLst/>
            <a:cxnLst/>
            <a:rect l="l" t="t" r="r" b="b"/>
            <a:pathLst>
              <a:path w="4608195" h="467359">
                <a:moveTo>
                  <a:pt x="4608004" y="116687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16687"/>
                </a:lnTo>
                <a:lnTo>
                  <a:pt x="0" y="116687"/>
                </a:lnTo>
                <a:lnTo>
                  <a:pt x="0" y="466813"/>
                </a:lnTo>
                <a:lnTo>
                  <a:pt x="4608004" y="466813"/>
                </a:lnTo>
                <a:lnTo>
                  <a:pt x="4608004" y="116687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5300" y="176552"/>
            <a:ext cx="79692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Motivação</a:t>
            </a:r>
          </a:p>
        </p:txBody>
      </p:sp>
      <p:sp>
        <p:nvSpPr>
          <p:cNvPr id="5" name="object 5"/>
          <p:cNvSpPr/>
          <p:nvPr/>
        </p:nvSpPr>
        <p:spPr>
          <a:xfrm>
            <a:off x="260045" y="100440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30911" rIns="0" bIns="0" rtlCol="0" vert="horz">
            <a:spAutoFit/>
          </a:bodyPr>
          <a:lstStyle/>
          <a:p>
            <a:pPr marL="265430" marR="266700">
              <a:lnSpc>
                <a:spcPct val="100000"/>
              </a:lnSpc>
              <a:spcBef>
                <a:spcPts val="95"/>
              </a:spcBef>
            </a:pPr>
            <a:r>
              <a:rPr dirty="0" spc="-110">
                <a:latin typeface="Arial Black"/>
                <a:cs typeface="Arial Black"/>
              </a:rPr>
              <a:t>Desafio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135">
                <a:latin typeface="Arial Black"/>
                <a:cs typeface="Arial Black"/>
              </a:rPr>
              <a:t>da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75">
                <a:latin typeface="Arial Black"/>
                <a:cs typeface="Arial Black"/>
              </a:rPr>
              <a:t>Alta</a:t>
            </a:r>
            <a:r>
              <a:rPr dirty="0" spc="-10">
                <a:latin typeface="Arial Black"/>
                <a:cs typeface="Arial Black"/>
              </a:rPr>
              <a:t> </a:t>
            </a:r>
            <a:r>
              <a:rPr dirty="0" spc="-95">
                <a:latin typeface="Arial Black"/>
                <a:cs typeface="Arial Black"/>
              </a:rPr>
              <a:t>Densidade</a:t>
            </a:r>
            <a:r>
              <a:rPr dirty="0" spc="-95"/>
              <a:t>:</a:t>
            </a:r>
            <a:r>
              <a:rPr dirty="0" spc="60"/>
              <a:t> </a:t>
            </a:r>
            <a:r>
              <a:rPr dirty="0" spc="-25"/>
              <a:t>Práticas</a:t>
            </a:r>
            <a:r>
              <a:rPr dirty="0" spc="15"/>
              <a:t> </a:t>
            </a:r>
            <a:r>
              <a:rPr dirty="0" spc="-20"/>
              <a:t>de</a:t>
            </a:r>
            <a:r>
              <a:rPr dirty="0" spc="25"/>
              <a:t> </a:t>
            </a:r>
            <a:r>
              <a:rPr dirty="0" spc="-45"/>
              <a:t>radiofrequência</a:t>
            </a:r>
            <a:r>
              <a:rPr dirty="0" spc="20"/>
              <a:t> </a:t>
            </a:r>
            <a:r>
              <a:rPr dirty="0" spc="-30"/>
              <a:t>mostram</a:t>
            </a:r>
            <a:r>
              <a:rPr dirty="0" spc="20"/>
              <a:t> </a:t>
            </a:r>
            <a:r>
              <a:rPr dirty="0" spc="-25"/>
              <a:t>que </a:t>
            </a:r>
            <a:r>
              <a:rPr dirty="0" spc="-20"/>
              <a:t>muitos</a:t>
            </a:r>
            <a:r>
              <a:rPr dirty="0" spc="-10"/>
              <a:t> </a:t>
            </a:r>
            <a:r>
              <a:rPr dirty="0" spc="-35"/>
              <a:t>clientes</a:t>
            </a:r>
            <a:r>
              <a:rPr dirty="0" spc="-5"/>
              <a:t> </a:t>
            </a:r>
            <a:r>
              <a:rPr dirty="0" spc="-25"/>
              <a:t>ativos</a:t>
            </a:r>
            <a:r>
              <a:rPr dirty="0"/>
              <a:t> </a:t>
            </a:r>
            <a:r>
              <a:rPr dirty="0" spc="-50"/>
              <a:t>degradam</a:t>
            </a:r>
            <a:r>
              <a:rPr dirty="0" spc="-5"/>
              <a:t> </a:t>
            </a:r>
            <a:r>
              <a:rPr dirty="0" spc="-60"/>
              <a:t>severamente</a:t>
            </a:r>
            <a:r>
              <a:rPr dirty="0" spc="-5"/>
              <a:t> </a:t>
            </a:r>
            <a:r>
              <a:rPr dirty="0"/>
              <a:t>o</a:t>
            </a:r>
            <a:r>
              <a:rPr dirty="0" spc="-5"/>
              <a:t> </a:t>
            </a:r>
            <a:r>
              <a:rPr dirty="0" spc="-10"/>
              <a:t>tempo</a:t>
            </a:r>
            <a:r>
              <a:rPr dirty="0" spc="-5"/>
              <a:t> </a:t>
            </a:r>
            <a:r>
              <a:rPr dirty="0" spc="-65"/>
              <a:t>aéreo</a:t>
            </a:r>
            <a:r>
              <a:rPr dirty="0" spc="-5"/>
              <a:t> </a:t>
            </a:r>
            <a:r>
              <a:rPr dirty="0" spc="-10"/>
              <a:t>comum </a:t>
            </a:r>
            <a:r>
              <a:rPr dirty="0"/>
              <a:t>(</a:t>
            </a:r>
            <a:r>
              <a:rPr dirty="0" i="1">
                <a:latin typeface="Arial"/>
                <a:cs typeface="Arial"/>
              </a:rPr>
              <a:t>airtime</a:t>
            </a:r>
            <a:r>
              <a:rPr dirty="0"/>
              <a:t>)</a:t>
            </a:r>
            <a:r>
              <a:rPr dirty="0" spc="25"/>
              <a:t> </a:t>
            </a:r>
            <a:r>
              <a:rPr dirty="0" spc="-10">
                <a:hlinkClick r:id="rId3" action="ppaction://hlinksldjump"/>
              </a:rPr>
              <a:t>(GAST,</a:t>
            </a:r>
            <a:r>
              <a:rPr dirty="0" spc="25"/>
              <a:t> </a:t>
            </a:r>
            <a:r>
              <a:rPr dirty="0" spc="-10">
                <a:hlinkClick r:id="rId3" action="ppaction://hlinksldjump"/>
              </a:rPr>
              <a:t>2005).</a:t>
            </a:r>
          </a:p>
          <a:p>
            <a:pPr marL="265430" marR="5080">
              <a:lnSpc>
                <a:spcPct val="100000"/>
              </a:lnSpc>
              <a:spcBef>
                <a:spcPts val="285"/>
              </a:spcBef>
            </a:pPr>
            <a:r>
              <a:rPr dirty="0" spc="-145">
                <a:latin typeface="Arial Black"/>
                <a:cs typeface="Arial Black"/>
              </a:rPr>
              <a:t>Obsolescência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165">
                <a:latin typeface="Arial Black"/>
                <a:cs typeface="Arial Black"/>
              </a:rPr>
              <a:t>e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110">
                <a:latin typeface="Arial Black"/>
                <a:cs typeface="Arial Black"/>
              </a:rPr>
              <a:t>Heterogeneidade</a:t>
            </a:r>
            <a:r>
              <a:rPr dirty="0" spc="-110"/>
              <a:t>:</a:t>
            </a:r>
            <a:r>
              <a:rPr dirty="0" spc="150"/>
              <a:t> </a:t>
            </a:r>
            <a:r>
              <a:rPr dirty="0" spc="-45"/>
              <a:t>Equipamentos</a:t>
            </a:r>
            <a:r>
              <a:rPr dirty="0" spc="55"/>
              <a:t> </a:t>
            </a:r>
            <a:r>
              <a:rPr dirty="0" spc="-35"/>
              <a:t>corporativos</a:t>
            </a:r>
            <a:r>
              <a:rPr dirty="0" spc="50"/>
              <a:t> </a:t>
            </a:r>
            <a:r>
              <a:rPr dirty="0" spc="-30"/>
              <a:t>de</a:t>
            </a:r>
            <a:r>
              <a:rPr dirty="0" spc="50"/>
              <a:t> </a:t>
            </a:r>
            <a:r>
              <a:rPr dirty="0" spc="-10"/>
              <a:t>ponta </a:t>
            </a:r>
            <a:r>
              <a:rPr dirty="0" spc="-40"/>
              <a:t>(Ruckus</a:t>
            </a:r>
            <a:r>
              <a:rPr dirty="0" spc="-15"/>
              <a:t> </a:t>
            </a:r>
            <a:r>
              <a:rPr dirty="0" spc="-25"/>
              <a:t>R600)</a:t>
            </a:r>
            <a:r>
              <a:rPr dirty="0" spc="5"/>
              <a:t> </a:t>
            </a:r>
            <a:r>
              <a:rPr dirty="0" spc="-35"/>
              <a:t>coexistindo</a:t>
            </a:r>
            <a:r>
              <a:rPr dirty="0" spc="5"/>
              <a:t> </a:t>
            </a:r>
            <a:r>
              <a:rPr dirty="0" spc="-35"/>
              <a:t>com</a:t>
            </a:r>
            <a:r>
              <a:rPr dirty="0" spc="5"/>
              <a:t> </a:t>
            </a:r>
            <a:r>
              <a:rPr dirty="0" spc="-70"/>
              <a:t>redes</a:t>
            </a:r>
            <a:r>
              <a:rPr dirty="0" spc="5"/>
              <a:t> </a:t>
            </a:r>
            <a:r>
              <a:rPr dirty="0" spc="-45"/>
              <a:t>mais</a:t>
            </a:r>
            <a:r>
              <a:rPr dirty="0"/>
              <a:t> </a:t>
            </a:r>
            <a:r>
              <a:rPr dirty="0" spc="-50"/>
              <a:t>simples</a:t>
            </a:r>
            <a:r>
              <a:rPr dirty="0" spc="10"/>
              <a:t> </a:t>
            </a:r>
            <a:r>
              <a:rPr dirty="0"/>
              <a:t>(UniFi)</a:t>
            </a:r>
            <a:r>
              <a:rPr dirty="0" spc="5"/>
              <a:t> </a:t>
            </a:r>
            <a:r>
              <a:rPr dirty="0" spc="-90"/>
              <a:t>sem</a:t>
            </a:r>
            <a:r>
              <a:rPr dirty="0" spc="20"/>
              <a:t> </a:t>
            </a:r>
            <a:r>
              <a:rPr dirty="0" spc="-40"/>
              <a:t>coordenação </a:t>
            </a:r>
            <a:r>
              <a:rPr dirty="0" spc="-30"/>
              <a:t>de</a:t>
            </a:r>
            <a:r>
              <a:rPr dirty="0" spc="-35"/>
              <a:t> </a:t>
            </a:r>
            <a:r>
              <a:rPr dirty="0" spc="-25"/>
              <a:t>RF.</a:t>
            </a:r>
          </a:p>
          <a:p>
            <a:pPr marL="265430" marR="86360">
              <a:lnSpc>
                <a:spcPct val="100000"/>
              </a:lnSpc>
              <a:spcBef>
                <a:spcPts val="285"/>
              </a:spcBef>
            </a:pPr>
            <a:r>
              <a:rPr dirty="0" spc="-135">
                <a:latin typeface="Arial Black"/>
                <a:cs typeface="Arial Black"/>
              </a:rPr>
              <a:t>Percepção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114">
                <a:latin typeface="Arial Black"/>
                <a:cs typeface="Arial Black"/>
              </a:rPr>
              <a:t>do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95">
                <a:latin typeface="Arial Black"/>
                <a:cs typeface="Arial Black"/>
              </a:rPr>
              <a:t>Usuário</a:t>
            </a:r>
            <a:r>
              <a:rPr dirty="0" spc="-95"/>
              <a:t>:</a:t>
            </a:r>
            <a:r>
              <a:rPr dirty="0" spc="60"/>
              <a:t> </a:t>
            </a:r>
            <a:r>
              <a:rPr dirty="0" spc="-45"/>
              <a:t>Frequente</a:t>
            </a:r>
            <a:r>
              <a:rPr dirty="0" spc="25"/>
              <a:t> </a:t>
            </a:r>
            <a:r>
              <a:rPr dirty="0" spc="-35"/>
              <a:t>insatisfação</a:t>
            </a:r>
            <a:r>
              <a:rPr dirty="0" spc="20"/>
              <a:t> </a:t>
            </a:r>
            <a:r>
              <a:rPr dirty="0" spc="-35"/>
              <a:t>com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20"/>
              <a:t> </a:t>
            </a:r>
            <a:r>
              <a:rPr dirty="0" spc="-40"/>
              <a:t>estabilidade</a:t>
            </a:r>
            <a:r>
              <a:rPr dirty="0" spc="25"/>
              <a:t> </a:t>
            </a:r>
            <a:r>
              <a:rPr dirty="0" spc="-50"/>
              <a:t>e </a:t>
            </a:r>
            <a:r>
              <a:rPr dirty="0" spc="-45"/>
              <a:t>velocidade</a:t>
            </a:r>
            <a:r>
              <a:rPr dirty="0" spc="-10"/>
              <a:t> da</a:t>
            </a:r>
            <a:r>
              <a:rPr dirty="0" spc="-5"/>
              <a:t> </a:t>
            </a:r>
            <a:r>
              <a:rPr dirty="0" spc="-65"/>
              <a:t>conexão</a:t>
            </a:r>
            <a:r>
              <a:rPr dirty="0" spc="-5"/>
              <a:t> </a:t>
            </a:r>
            <a:r>
              <a:rPr dirty="0" spc="-30"/>
              <a:t>de</a:t>
            </a:r>
            <a:r>
              <a:rPr dirty="0" spc="-5"/>
              <a:t> </a:t>
            </a:r>
            <a:r>
              <a:rPr dirty="0" spc="-45"/>
              <a:t>rede</a:t>
            </a:r>
            <a:r>
              <a:rPr dirty="0" spc="-5"/>
              <a:t> </a:t>
            </a:r>
            <a:r>
              <a:rPr dirty="0" spc="-30"/>
              <a:t>corporativa,</a:t>
            </a:r>
            <a:r>
              <a:rPr dirty="0" spc="-5"/>
              <a:t> </a:t>
            </a:r>
            <a:r>
              <a:rPr dirty="0" spc="-50"/>
              <a:t>necessitando</a:t>
            </a:r>
            <a:r>
              <a:rPr dirty="0" spc="-5"/>
              <a:t> </a:t>
            </a:r>
            <a:r>
              <a:rPr dirty="0" spc="-30"/>
              <a:t>de</a:t>
            </a:r>
            <a:r>
              <a:rPr dirty="0" spc="-5"/>
              <a:t> </a:t>
            </a:r>
            <a:r>
              <a:rPr dirty="0"/>
              <a:t>um</a:t>
            </a:r>
            <a:r>
              <a:rPr dirty="0" spc="-5"/>
              <a:t> </a:t>
            </a:r>
            <a:r>
              <a:rPr dirty="0" spc="-25"/>
              <a:t>diagnóstico </a:t>
            </a:r>
            <a:r>
              <a:rPr dirty="0" spc="-10"/>
              <a:t>livre </a:t>
            </a:r>
            <a:r>
              <a:rPr dirty="0" spc="-30"/>
              <a:t>de</a:t>
            </a:r>
            <a:r>
              <a:rPr dirty="0" spc="-10"/>
              <a:t> </a:t>
            </a:r>
            <a:r>
              <a:rPr dirty="0" spc="-55"/>
              <a:t>viés</a:t>
            </a:r>
            <a:r>
              <a:rPr dirty="0" spc="-5"/>
              <a:t> </a:t>
            </a:r>
            <a:r>
              <a:rPr dirty="0" spc="-10"/>
              <a:t>qualitativo </a:t>
            </a:r>
            <a:r>
              <a:rPr dirty="0" spc="-35"/>
              <a:t>puramente</a:t>
            </a:r>
            <a:r>
              <a:rPr dirty="0" spc="-10"/>
              <a:t> opinativo.</a:t>
            </a:r>
          </a:p>
          <a:p>
            <a:pPr marL="265430" marR="40005">
              <a:lnSpc>
                <a:spcPct val="100000"/>
              </a:lnSpc>
              <a:spcBef>
                <a:spcPts val="285"/>
              </a:spcBef>
            </a:pPr>
            <a:r>
              <a:rPr dirty="0" spc="-130">
                <a:latin typeface="Arial Black"/>
                <a:cs typeface="Arial Black"/>
              </a:rPr>
              <a:t>Ociosidade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70">
                <a:latin typeface="Arial Black"/>
                <a:cs typeface="Arial Black"/>
              </a:rPr>
              <a:t>vs.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dirty="0" spc="-80">
                <a:latin typeface="Arial Black"/>
                <a:cs typeface="Arial Black"/>
              </a:rPr>
              <a:t>Abuso</a:t>
            </a:r>
            <a:r>
              <a:rPr dirty="0" spc="-80"/>
              <a:t>:</a:t>
            </a:r>
            <a:r>
              <a:rPr dirty="0" spc="85"/>
              <a:t> </a:t>
            </a:r>
            <a:r>
              <a:rPr dirty="0" spc="-10"/>
              <a:t>Falta</a:t>
            </a:r>
            <a:r>
              <a:rPr dirty="0" spc="-5"/>
              <a:t> </a:t>
            </a:r>
            <a:r>
              <a:rPr dirty="0" spc="-20"/>
              <a:t>de</a:t>
            </a:r>
            <a:r>
              <a:rPr dirty="0"/>
              <a:t> </a:t>
            </a:r>
            <a:r>
              <a:rPr dirty="0" spc="-35"/>
              <a:t>visibilidade</a:t>
            </a:r>
            <a:r>
              <a:rPr dirty="0"/>
              <a:t> </a:t>
            </a:r>
            <a:r>
              <a:rPr dirty="0" spc="-30"/>
              <a:t>técnica</a:t>
            </a:r>
            <a:r>
              <a:rPr dirty="0" spc="-5"/>
              <a:t> </a:t>
            </a:r>
            <a:r>
              <a:rPr dirty="0" spc="-65"/>
              <a:t>sobre</a:t>
            </a:r>
            <a:r>
              <a:rPr dirty="0" spc="-5"/>
              <a:t> </a:t>
            </a:r>
            <a:r>
              <a:rPr dirty="0"/>
              <a:t>o</a:t>
            </a:r>
            <a:r>
              <a:rPr dirty="0" spc="-5"/>
              <a:t> </a:t>
            </a:r>
            <a:r>
              <a:rPr dirty="0" spc="-50"/>
              <a:t>uso</a:t>
            </a:r>
            <a:r>
              <a:rPr dirty="0" spc="-5"/>
              <a:t> </a:t>
            </a:r>
            <a:r>
              <a:rPr dirty="0" spc="-40"/>
              <a:t>abusivo</a:t>
            </a:r>
            <a:r>
              <a:rPr dirty="0" spc="-5"/>
              <a:t> </a:t>
            </a:r>
            <a:r>
              <a:rPr dirty="0" spc="-25"/>
              <a:t>de </a:t>
            </a:r>
            <a:r>
              <a:rPr dirty="0" spc="-40"/>
              <a:t>banda</a:t>
            </a:r>
            <a:r>
              <a:rPr dirty="0" spc="-10"/>
              <a:t> </a:t>
            </a:r>
            <a:r>
              <a:rPr dirty="0"/>
              <a:t>por</a:t>
            </a:r>
            <a:r>
              <a:rPr dirty="0" spc="-5"/>
              <a:t> </a:t>
            </a:r>
            <a:r>
              <a:rPr dirty="0" spc="-45"/>
              <a:t>poucos</a:t>
            </a:r>
            <a:r>
              <a:rPr dirty="0" spc="-5"/>
              <a:t> </a:t>
            </a:r>
            <a:r>
              <a:rPr dirty="0" spc="-55"/>
              <a:t>usuários</a:t>
            </a:r>
            <a:r>
              <a:rPr dirty="0" spc="-5"/>
              <a:t> </a:t>
            </a:r>
            <a:r>
              <a:rPr dirty="0" spc="-10"/>
              <a:t>limitando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40"/>
              <a:t>estabilidade</a:t>
            </a:r>
            <a:r>
              <a:rPr dirty="0" spc="-5"/>
              <a:t> </a:t>
            </a:r>
            <a:r>
              <a:rPr dirty="0" spc="-35"/>
              <a:t>geral</a:t>
            </a:r>
            <a:r>
              <a:rPr dirty="0" spc="-5"/>
              <a:t> </a:t>
            </a:r>
            <a:r>
              <a:rPr dirty="0" spc="-50"/>
              <a:t>dos</a:t>
            </a:r>
            <a:r>
              <a:rPr dirty="0" spc="-5"/>
              <a:t> </a:t>
            </a:r>
            <a:r>
              <a:rPr dirty="0" spc="-10"/>
              <a:t>demais.</a:t>
            </a:r>
          </a:p>
        </p:txBody>
      </p:sp>
      <p:sp>
        <p:nvSpPr>
          <p:cNvPr id="7" name="object 7"/>
          <p:cNvSpPr/>
          <p:nvPr/>
        </p:nvSpPr>
        <p:spPr>
          <a:xfrm>
            <a:off x="260045" y="149785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0045" y="199130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0045" y="248475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1" name="object 11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5991" y="-1451"/>
            <a:ext cx="65532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Motivação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Objetivos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467359"/>
          </a:xfrm>
          <a:custGeom>
            <a:avLst/>
            <a:gdLst/>
            <a:ahLst/>
            <a:cxnLst/>
            <a:rect l="l" t="t" r="r" b="b"/>
            <a:pathLst>
              <a:path w="4608195" h="467359">
                <a:moveTo>
                  <a:pt x="4608004" y="116687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16687"/>
                </a:lnTo>
                <a:lnTo>
                  <a:pt x="0" y="116687"/>
                </a:lnTo>
                <a:lnTo>
                  <a:pt x="0" y="466813"/>
                </a:lnTo>
                <a:lnTo>
                  <a:pt x="4608004" y="466813"/>
                </a:lnTo>
                <a:lnTo>
                  <a:pt x="4608004" y="116687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Objetivos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4315" y="732332"/>
          <a:ext cx="4516120" cy="567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9285"/>
              </a:tblGrid>
              <a:tr h="190500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Objetivo</a:t>
                      </a:r>
                      <a:r>
                        <a:rPr dirty="0" sz="10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Geral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solidFill>
                      <a:srgbClr val="70182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marL="41910" marR="469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000" spc="-45">
                          <a:latin typeface="Arial MT"/>
                          <a:cs typeface="Arial MT"/>
                        </a:rPr>
                        <a:t>Caracterizar</a:t>
                      </a:r>
                      <a:r>
                        <a:rPr dirty="0" sz="10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10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40">
                          <a:latin typeface="Arial MT"/>
                          <a:cs typeface="Arial MT"/>
                        </a:rPr>
                        <a:t>diagnosticar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60">
                          <a:latin typeface="Arial MT"/>
                          <a:cs typeface="Arial MT"/>
                        </a:rPr>
                        <a:t>os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latin typeface="Arial MT"/>
                          <a:cs typeface="Arial MT"/>
                        </a:rPr>
                        <a:t>gargalos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45">
                          <a:latin typeface="Arial MT"/>
                          <a:cs typeface="Arial MT"/>
                        </a:rPr>
                        <a:t>físicos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10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40">
                          <a:latin typeface="Arial MT"/>
                          <a:cs typeface="Arial MT"/>
                        </a:rPr>
                        <a:t>lógicos</a:t>
                      </a:r>
                      <a:r>
                        <a:rPr dirty="0" sz="10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40">
                          <a:latin typeface="Arial MT"/>
                          <a:cs typeface="Arial MT"/>
                        </a:rPr>
                        <a:t>que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limitam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40">
                          <a:latin typeface="Arial MT"/>
                          <a:cs typeface="Arial MT"/>
                        </a:rPr>
                        <a:t>desempenho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10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0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40">
                          <a:latin typeface="Arial MT"/>
                          <a:cs typeface="Arial MT"/>
                        </a:rPr>
                        <a:t>qualidade</a:t>
                      </a:r>
                      <a:r>
                        <a:rPr dirty="0" sz="10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0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10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latin typeface="Arial MT"/>
                          <a:cs typeface="Arial MT"/>
                        </a:rPr>
                        <a:t>experiência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70">
                          <a:latin typeface="Arial MT"/>
                          <a:cs typeface="Arial MT"/>
                        </a:rPr>
                        <a:t>nas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70">
                          <a:latin typeface="Arial MT"/>
                          <a:cs typeface="Arial MT"/>
                        </a:rPr>
                        <a:t>redes</a:t>
                      </a:r>
                      <a:r>
                        <a:rPr dirty="0" sz="10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90">
                          <a:latin typeface="Arial MT"/>
                          <a:cs typeface="Arial MT"/>
                        </a:rPr>
                        <a:t>sem</a:t>
                      </a:r>
                      <a:r>
                        <a:rPr dirty="0" sz="10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fio</a:t>
                      </a:r>
                      <a:r>
                        <a:rPr dirty="0" sz="10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5">
                          <a:latin typeface="Arial MT"/>
                          <a:cs typeface="Arial MT"/>
                        </a:rPr>
                        <a:t>corporativas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 do</a:t>
                      </a:r>
                      <a:r>
                        <a:rPr dirty="0" sz="10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ICEA/UFOP.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4765">
                    <a:solidFill>
                      <a:srgbClr val="F0E7E9"/>
                    </a:solidFill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84315" y="1426819"/>
            <a:ext cx="4439920" cy="1523365"/>
            <a:chOff x="84315" y="1426819"/>
            <a:chExt cx="4439920" cy="1523365"/>
          </a:xfrm>
        </p:grpSpPr>
        <p:sp>
          <p:nvSpPr>
            <p:cNvPr id="7" name="object 7"/>
            <p:cNvSpPr/>
            <p:nvPr/>
          </p:nvSpPr>
          <p:spPr>
            <a:xfrm>
              <a:off x="84315" y="1426819"/>
              <a:ext cx="4439920" cy="190500"/>
            </a:xfrm>
            <a:custGeom>
              <a:avLst/>
              <a:gdLst/>
              <a:ahLst/>
              <a:cxnLst/>
              <a:rect l="l" t="t" r="r" b="b"/>
              <a:pathLst>
                <a:path w="4439920" h="190500">
                  <a:moveTo>
                    <a:pt x="0" y="190500"/>
                  </a:moveTo>
                  <a:lnTo>
                    <a:pt x="4439361" y="190500"/>
                  </a:lnTo>
                  <a:lnTo>
                    <a:pt x="4439361" y="0"/>
                  </a:ln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4315" y="1617319"/>
              <a:ext cx="4439920" cy="1332865"/>
            </a:xfrm>
            <a:custGeom>
              <a:avLst/>
              <a:gdLst/>
              <a:ahLst/>
              <a:cxnLst/>
              <a:rect l="l" t="t" r="r" b="b"/>
              <a:pathLst>
                <a:path w="4439920" h="1332864">
                  <a:moveTo>
                    <a:pt x="4439361" y="0"/>
                  </a:moveTo>
                  <a:lnTo>
                    <a:pt x="0" y="0"/>
                  </a:lnTo>
                  <a:lnTo>
                    <a:pt x="0" y="1332738"/>
                  </a:lnTo>
                  <a:lnTo>
                    <a:pt x="4439361" y="1332738"/>
                  </a:lnTo>
                  <a:lnTo>
                    <a:pt x="4439361" y="0"/>
                  </a:lnTo>
                  <a:close/>
                </a:path>
              </a:pathLst>
            </a:custGeom>
            <a:solidFill>
              <a:srgbClr val="F0E7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60045" y="1750872"/>
              <a:ext cx="56515" cy="967740"/>
            </a:xfrm>
            <a:custGeom>
              <a:avLst/>
              <a:gdLst/>
              <a:ahLst/>
              <a:cxnLst/>
              <a:rect l="l" t="t" r="r" b="b"/>
              <a:pathLst>
                <a:path w="56514" h="967739">
                  <a:moveTo>
                    <a:pt x="56235" y="910983"/>
                  </a:moveTo>
                  <a:lnTo>
                    <a:pt x="0" y="910983"/>
                  </a:lnTo>
                  <a:lnTo>
                    <a:pt x="0" y="967219"/>
                  </a:lnTo>
                  <a:lnTo>
                    <a:pt x="56235" y="967219"/>
                  </a:lnTo>
                  <a:lnTo>
                    <a:pt x="56235" y="910983"/>
                  </a:lnTo>
                  <a:close/>
                </a:path>
                <a:path w="56514" h="967739">
                  <a:moveTo>
                    <a:pt x="56235" y="721194"/>
                  </a:moveTo>
                  <a:lnTo>
                    <a:pt x="0" y="721194"/>
                  </a:lnTo>
                  <a:lnTo>
                    <a:pt x="0" y="777430"/>
                  </a:lnTo>
                  <a:lnTo>
                    <a:pt x="56235" y="777430"/>
                  </a:lnTo>
                  <a:lnTo>
                    <a:pt x="56235" y="721194"/>
                  </a:lnTo>
                  <a:close/>
                </a:path>
                <a:path w="56514" h="967739">
                  <a:moveTo>
                    <a:pt x="56235" y="531406"/>
                  </a:moveTo>
                  <a:lnTo>
                    <a:pt x="0" y="531406"/>
                  </a:lnTo>
                  <a:lnTo>
                    <a:pt x="0" y="587641"/>
                  </a:lnTo>
                  <a:lnTo>
                    <a:pt x="56235" y="587641"/>
                  </a:lnTo>
                  <a:lnTo>
                    <a:pt x="56235" y="531406"/>
                  </a:lnTo>
                  <a:close/>
                </a:path>
                <a:path w="56514" h="967739">
                  <a:moveTo>
                    <a:pt x="56235" y="341617"/>
                  </a:moveTo>
                  <a:lnTo>
                    <a:pt x="0" y="341617"/>
                  </a:lnTo>
                  <a:lnTo>
                    <a:pt x="0" y="397852"/>
                  </a:lnTo>
                  <a:lnTo>
                    <a:pt x="56235" y="397852"/>
                  </a:lnTo>
                  <a:lnTo>
                    <a:pt x="56235" y="341617"/>
                  </a:lnTo>
                  <a:close/>
                </a:path>
                <a:path w="56514" h="967739">
                  <a:moveTo>
                    <a:pt x="56235" y="0"/>
                  </a:moveTo>
                  <a:lnTo>
                    <a:pt x="0" y="0"/>
                  </a:lnTo>
                  <a:lnTo>
                    <a:pt x="0" y="56235"/>
                  </a:lnTo>
                  <a:lnTo>
                    <a:pt x="56235" y="56235"/>
                  </a:lnTo>
                  <a:lnTo>
                    <a:pt x="56235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13792" y="1417642"/>
            <a:ext cx="4284980" cy="1490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Objetivos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Específicos</a:t>
            </a:r>
            <a:endParaRPr sz="1000">
              <a:latin typeface="Arial MT"/>
              <a:cs typeface="Arial MT"/>
            </a:endParaRPr>
          </a:p>
          <a:p>
            <a:pPr marL="265430" marR="356870">
              <a:lnSpc>
                <a:spcPct val="100000"/>
              </a:lnSpc>
              <a:spcBef>
                <a:spcPts val="770"/>
              </a:spcBef>
            </a:pPr>
            <a:r>
              <a:rPr dirty="0" sz="1000" spc="-30">
                <a:latin typeface="Arial MT"/>
                <a:cs typeface="Arial MT"/>
              </a:rPr>
              <a:t>Coleta automatizada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dados</a:t>
            </a:r>
            <a:r>
              <a:rPr dirty="0" sz="1000" spc="-10">
                <a:latin typeface="Arial MT"/>
                <a:cs typeface="Arial MT"/>
              </a:rPr>
              <a:t> quantitativos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logs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controladoras (SmartZone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UniFi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Controller)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logs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RADIUS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firewall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pfSense.</a:t>
            </a:r>
            <a:endParaRPr sz="1000">
              <a:latin typeface="Arial MT"/>
              <a:cs typeface="Arial MT"/>
            </a:endParaRPr>
          </a:p>
          <a:p>
            <a:pPr marL="265430" marR="367030">
              <a:lnSpc>
                <a:spcPts val="1490"/>
              </a:lnSpc>
              <a:spcBef>
                <a:spcPts val="100"/>
              </a:spcBef>
            </a:pPr>
            <a:r>
              <a:rPr dirty="0" sz="1000" spc="-50">
                <a:latin typeface="Arial MT"/>
                <a:cs typeface="Arial MT"/>
              </a:rPr>
              <a:t>Pré-</a:t>
            </a:r>
            <a:r>
              <a:rPr dirty="0" sz="1000" spc="-60">
                <a:latin typeface="Arial MT"/>
                <a:cs typeface="Arial MT"/>
              </a:rPr>
              <a:t>processamento,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limpeza,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unificação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padronização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das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métricas. </a:t>
            </a:r>
            <a:r>
              <a:rPr dirty="0" sz="1000" spc="-40">
                <a:latin typeface="Arial MT"/>
                <a:cs typeface="Arial MT"/>
              </a:rPr>
              <a:t>Modelagem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heurística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determinística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classificação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gargalos.</a:t>
            </a:r>
            <a:endParaRPr sz="10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00"/>
              </a:spcBef>
            </a:pPr>
            <a:r>
              <a:rPr dirty="0" sz="1000" spc="-35">
                <a:latin typeface="Arial MT"/>
                <a:cs typeface="Arial MT"/>
              </a:rPr>
              <a:t>Aplicação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agrupamento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não-</a:t>
            </a:r>
            <a:r>
              <a:rPr dirty="0" sz="1000" spc="-45">
                <a:latin typeface="Arial MT"/>
                <a:cs typeface="Arial MT"/>
              </a:rPr>
              <a:t>supervisionado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(</a:t>
            </a:r>
            <a:r>
              <a:rPr dirty="0" sz="1000" spc="-10" i="1">
                <a:latin typeface="Arial"/>
                <a:cs typeface="Arial"/>
              </a:rPr>
              <a:t>K-</a:t>
            </a:r>
            <a:r>
              <a:rPr dirty="0" sz="1000" i="1">
                <a:latin typeface="Arial"/>
                <a:cs typeface="Arial"/>
              </a:rPr>
              <a:t>Means</a:t>
            </a:r>
            <a:r>
              <a:rPr dirty="0" sz="1000">
                <a:latin typeface="Arial MT"/>
                <a:cs typeface="Arial MT"/>
              </a:rPr>
              <a:t>) </a:t>
            </a:r>
            <a:r>
              <a:rPr dirty="0" sz="1000" spc="-35">
                <a:latin typeface="Arial MT"/>
                <a:cs typeface="Arial MT"/>
              </a:rPr>
              <a:t>para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validação.</a:t>
            </a:r>
            <a:endParaRPr sz="1000">
              <a:latin typeface="Arial MT"/>
              <a:cs typeface="Arial MT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dirty="0" sz="1000" spc="-45">
                <a:latin typeface="Arial MT"/>
                <a:cs typeface="Arial MT"/>
              </a:rPr>
              <a:t>Elaboração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sugestões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recomendações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práticas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QoS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gerenciamento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RF.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2" name="object 12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6902" y="-1451"/>
            <a:ext cx="37401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Metodologia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600075"/>
          </a:xfrm>
          <a:custGeom>
            <a:avLst/>
            <a:gdLst/>
            <a:ahLst/>
            <a:cxnLst/>
            <a:rect l="l" t="t" r="r" b="b"/>
            <a:pathLst>
              <a:path w="4608195" h="600075">
                <a:moveTo>
                  <a:pt x="4607992" y="0"/>
                </a:moveTo>
                <a:lnTo>
                  <a:pt x="2303996" y="0"/>
                </a:lnTo>
                <a:lnTo>
                  <a:pt x="2303996" y="116687"/>
                </a:lnTo>
                <a:lnTo>
                  <a:pt x="4607992" y="116687"/>
                </a:lnTo>
                <a:lnTo>
                  <a:pt x="4607992" y="0"/>
                </a:lnTo>
                <a:close/>
              </a:path>
              <a:path w="4608195" h="600075">
                <a:moveTo>
                  <a:pt x="4608004" y="116700"/>
                </a:moveTo>
                <a:lnTo>
                  <a:pt x="0" y="116700"/>
                </a:lnTo>
                <a:lnTo>
                  <a:pt x="0" y="599668"/>
                </a:lnTo>
                <a:lnTo>
                  <a:pt x="4608004" y="599668"/>
                </a:lnTo>
                <a:lnTo>
                  <a:pt x="4608004" y="11670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pc="-10"/>
              <a:t>Metodologia</a:t>
            </a: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800">
                <a:latin typeface="Arial MT"/>
                <a:cs typeface="Arial MT"/>
              </a:rPr>
              <a:t>Coleta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Arquitetura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Fluxo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Dados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045" y="95055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6852" y="867567"/>
            <a:ext cx="4116704" cy="1164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114">
                <a:latin typeface="Arial Black"/>
                <a:cs typeface="Arial Black"/>
              </a:rPr>
              <a:t>Estudo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140">
                <a:latin typeface="Arial Black"/>
                <a:cs typeface="Arial Black"/>
              </a:rPr>
              <a:t>de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145">
                <a:latin typeface="Arial Black"/>
                <a:cs typeface="Arial Black"/>
              </a:rPr>
              <a:t>Caso</a:t>
            </a:r>
            <a:r>
              <a:rPr dirty="0" sz="1000" spc="-5">
                <a:latin typeface="Arial Black"/>
                <a:cs typeface="Arial Black"/>
              </a:rPr>
              <a:t> </a:t>
            </a:r>
            <a:r>
              <a:rPr dirty="0" sz="1000">
                <a:latin typeface="Arial MT"/>
                <a:cs typeface="Arial MT"/>
              </a:rPr>
              <a:t>no</a:t>
            </a:r>
            <a:r>
              <a:rPr dirty="0" sz="1000" spc="-6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campus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ICEA/UFOP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monitorando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redes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corporativas </a:t>
            </a:r>
            <a:r>
              <a:rPr dirty="0" sz="1000" spc="-25">
                <a:latin typeface="Arial MT"/>
                <a:cs typeface="Arial MT"/>
              </a:rPr>
              <a:t>(Eduroam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ICEA-</a:t>
            </a:r>
            <a:r>
              <a:rPr dirty="0" sz="1000" spc="-10">
                <a:latin typeface="Arial MT"/>
                <a:cs typeface="Arial MT"/>
              </a:rPr>
              <a:t>WIFI).</a:t>
            </a:r>
            <a:endParaRPr sz="1000">
              <a:latin typeface="Arial MT"/>
              <a:cs typeface="Arial MT"/>
            </a:endParaRPr>
          </a:p>
          <a:p>
            <a:pPr marL="12700" marR="29209">
              <a:lnSpc>
                <a:spcPct val="100000"/>
              </a:lnSpc>
              <a:spcBef>
                <a:spcPts val="290"/>
              </a:spcBef>
            </a:pPr>
            <a:r>
              <a:rPr dirty="0" sz="1000" spc="-125">
                <a:latin typeface="Arial Black"/>
                <a:cs typeface="Arial Black"/>
              </a:rPr>
              <a:t>Automação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160">
                <a:latin typeface="Arial Black"/>
                <a:cs typeface="Arial Black"/>
              </a:rPr>
              <a:t>em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85">
                <a:latin typeface="Arial Black"/>
                <a:cs typeface="Arial Black"/>
              </a:rPr>
              <a:t>Python</a:t>
            </a:r>
            <a:r>
              <a:rPr dirty="0" sz="1000">
                <a:latin typeface="Arial Black"/>
                <a:cs typeface="Arial Black"/>
              </a:rPr>
              <a:t> 3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Coleta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diária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logs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das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controladoras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Ruckus </a:t>
            </a:r>
            <a:r>
              <a:rPr dirty="0" sz="1000" spc="-40">
                <a:latin typeface="Arial MT"/>
                <a:cs typeface="Arial MT"/>
              </a:rPr>
              <a:t>SmartZone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(via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SNMP/API)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UniFi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Controller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(via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API),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agregados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com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os </a:t>
            </a:r>
            <a:r>
              <a:rPr dirty="0" sz="1000" spc="-35">
                <a:latin typeface="Arial MT"/>
                <a:cs typeface="Arial MT"/>
              </a:rPr>
              <a:t>logs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RADIUS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firewall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pfSense.</a:t>
            </a:r>
            <a:endParaRPr sz="1000">
              <a:latin typeface="Arial MT"/>
              <a:cs typeface="Arial MT"/>
            </a:endParaRPr>
          </a:p>
          <a:p>
            <a:pPr marL="12700" marR="185420">
              <a:lnSpc>
                <a:spcPct val="100000"/>
              </a:lnSpc>
              <a:spcBef>
                <a:spcPts val="285"/>
              </a:spcBef>
            </a:pPr>
            <a:r>
              <a:rPr dirty="0" sz="1000" spc="-114">
                <a:latin typeface="Arial Black"/>
                <a:cs typeface="Arial Black"/>
              </a:rPr>
              <a:t>Volume</a:t>
            </a:r>
            <a:r>
              <a:rPr dirty="0" sz="1000" spc="20">
                <a:latin typeface="Arial Black"/>
                <a:cs typeface="Arial Black"/>
              </a:rPr>
              <a:t> </a:t>
            </a:r>
            <a:r>
              <a:rPr dirty="0" sz="1000" spc="-140">
                <a:latin typeface="Arial Black"/>
                <a:cs typeface="Arial Black"/>
              </a:rPr>
              <a:t>de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75">
                <a:latin typeface="Arial Black"/>
                <a:cs typeface="Arial Black"/>
              </a:rPr>
              <a:t>Dados</a:t>
            </a:r>
            <a:r>
              <a:rPr dirty="0" sz="1000" spc="-75">
                <a:latin typeface="Arial MT"/>
                <a:cs typeface="Arial MT"/>
              </a:rPr>
              <a:t>: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Coleta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contínua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ao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longo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14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dias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úteis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 spc="-10">
                <a:latin typeface="Arial MT"/>
                <a:cs typeface="Arial MT"/>
              </a:rPr>
              <a:t> período </a:t>
            </a:r>
            <a:r>
              <a:rPr dirty="0" sz="1000">
                <a:latin typeface="Arial MT"/>
                <a:cs typeface="Arial MT"/>
              </a:rPr>
              <a:t>letivo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produção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ativa.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0045" y="129217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0045" y="178562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36841" y="2244648"/>
          <a:ext cx="3658870" cy="370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2470"/>
                <a:gridCol w="1049020"/>
                <a:gridCol w="1039494"/>
                <a:gridCol w="782954"/>
              </a:tblGrid>
              <a:tr h="229235">
                <a:tc>
                  <a:txBody>
                    <a:bodyPr/>
                    <a:lstStyle/>
                    <a:p>
                      <a:pPr>
                        <a:lnSpc>
                          <a:spcPts val="844"/>
                        </a:lnSpc>
                        <a:tabLst>
                          <a:tab pos="708660" algn="l"/>
                        </a:tabLst>
                      </a:pPr>
                      <a:r>
                        <a:rPr dirty="0" u="sng" sz="800" spc="365">
                          <a:uFill>
                            <a:solidFill>
                              <a:srgbClr val="000000"/>
                            </a:solidFill>
                          </a:u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u="sng" sz="800" spc="-10">
                          <a:uFill>
                            <a:solidFill>
                              <a:srgbClr val="000000"/>
                            </a:solidFill>
                          </a:uFill>
                          <a:latin typeface="Arial Black"/>
                          <a:cs typeface="Arial Black"/>
                        </a:rPr>
                        <a:t>Fabricante</a:t>
                      </a: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Arial Black"/>
                          <a:cs typeface="Arial Black"/>
                        </a:rPr>
                        <a:t>	</a:t>
                      </a:r>
                      <a:endParaRPr sz="800">
                        <a:latin typeface="Arial Black"/>
                        <a:cs typeface="Arial Black"/>
                      </a:endParaRPr>
                    </a:p>
                    <a:p>
                      <a:pPr marL="75565" marR="21590">
                        <a:lnSpc>
                          <a:spcPts val="840"/>
                        </a:lnSpc>
                        <a:spcBef>
                          <a:spcPts val="25"/>
                        </a:spcBef>
                      </a:pPr>
                      <a:r>
                        <a:rPr dirty="0" sz="800" spc="-10">
                          <a:latin typeface="Arial Black"/>
                          <a:cs typeface="Arial Black"/>
                        </a:rPr>
                        <a:t>Ruckus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ts val="844"/>
                        </a:lnSpc>
                        <a:tabLst>
                          <a:tab pos="1041400" algn="l"/>
                        </a:tabLst>
                      </a:pPr>
                      <a:r>
                        <a:rPr dirty="0" u="sng" sz="800" spc="-105">
                          <a:uFill>
                            <a:solidFill>
                              <a:srgbClr val="000000"/>
                            </a:solidFill>
                          </a:uFill>
                          <a:latin typeface="Arial Black"/>
                          <a:cs typeface="Arial Black"/>
                        </a:rPr>
                        <a:t>Registros</a:t>
                      </a:r>
                      <a:r>
                        <a:rPr dirty="0" u="sng" sz="800" spc="70">
                          <a:uFill>
                            <a:solidFill>
                              <a:srgbClr val="000000"/>
                            </a:solidFill>
                          </a:u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u="sng" sz="800" spc="-10">
                          <a:uFill>
                            <a:solidFill>
                              <a:srgbClr val="000000"/>
                            </a:solidFill>
                          </a:uFill>
                          <a:latin typeface="Arial Black"/>
                          <a:cs typeface="Arial Black"/>
                        </a:rPr>
                        <a:t>Originais</a:t>
                      </a: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Arial Black"/>
                          <a:cs typeface="Arial Black"/>
                        </a:rPr>
                        <a:t>	</a:t>
                      </a:r>
                      <a:endParaRPr sz="800">
                        <a:latin typeface="Arial Black"/>
                        <a:cs typeface="Arial Black"/>
                      </a:endParaRPr>
                    </a:p>
                    <a:p>
                      <a:pPr marL="280670" marR="94615">
                        <a:lnSpc>
                          <a:spcPts val="840"/>
                        </a:lnSpc>
                        <a:spcBef>
                          <a:spcPts val="25"/>
                        </a:spcBef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318.074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ts val="844"/>
                        </a:lnSpc>
                        <a:tabLst>
                          <a:tab pos="1036955" algn="l"/>
                        </a:tabLst>
                      </a:pPr>
                      <a:r>
                        <a:rPr dirty="0" u="sng" sz="800" spc="-100">
                          <a:uFill>
                            <a:solidFill>
                              <a:srgbClr val="000000"/>
                            </a:solidFill>
                          </a:uFill>
                          <a:latin typeface="Arial Black"/>
                          <a:cs typeface="Arial Black"/>
                        </a:rPr>
                        <a:t>Registros</a:t>
                      </a:r>
                      <a:r>
                        <a:rPr dirty="0" u="sng" sz="800" spc="20">
                          <a:uFill>
                            <a:solidFill>
                              <a:srgbClr val="000000"/>
                            </a:solidFill>
                          </a:u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u="sng" sz="800" spc="-10">
                          <a:uFill>
                            <a:solidFill>
                              <a:srgbClr val="000000"/>
                            </a:solidFill>
                          </a:uFill>
                          <a:latin typeface="Arial Black"/>
                          <a:cs typeface="Arial Black"/>
                        </a:rPr>
                        <a:t>Limpos</a:t>
                      </a: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Arial Black"/>
                          <a:cs typeface="Arial Black"/>
                        </a:rPr>
                        <a:t>	</a:t>
                      </a:r>
                      <a:endParaRPr sz="800">
                        <a:latin typeface="Arial Black"/>
                        <a:cs typeface="Arial Black"/>
                      </a:endParaRPr>
                    </a:p>
                    <a:p>
                      <a:pPr marL="313690" marR="103505">
                        <a:lnSpc>
                          <a:spcPts val="840"/>
                        </a:lnSpc>
                        <a:spcBef>
                          <a:spcPts val="25"/>
                        </a:spcBef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318.074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844"/>
                        </a:lnSpc>
                      </a:pPr>
                      <a:r>
                        <a:rPr dirty="0" u="sng" sz="800" spc="-50">
                          <a:uFill>
                            <a:solidFill>
                              <a:srgbClr val="000000"/>
                            </a:solidFill>
                          </a:uFill>
                          <a:latin typeface="Arial Black"/>
                          <a:cs typeface="Arial Black"/>
                        </a:rPr>
                        <a:t>Redundância</a:t>
                      </a:r>
                      <a:r>
                        <a:rPr dirty="0" u="sng" sz="800" spc="500">
                          <a:uFill>
                            <a:solidFill>
                              <a:srgbClr val="000000"/>
                            </a:solidFill>
                          </a:uFill>
                          <a:latin typeface="Arial Black"/>
                          <a:cs typeface="Arial Black"/>
                        </a:rPr>
                        <a:t> </a:t>
                      </a:r>
                      <a:endParaRPr sz="800">
                        <a:latin typeface="Arial Black"/>
                        <a:cs typeface="Arial Black"/>
                      </a:endParaRPr>
                    </a:p>
                    <a:p>
                      <a:pPr marL="262255" marR="3175">
                        <a:lnSpc>
                          <a:spcPts val="840"/>
                        </a:lnSpc>
                        <a:spcBef>
                          <a:spcPts val="25"/>
                        </a:spcBef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0,00%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0970">
                <a:tc>
                  <a:txBody>
                    <a:bodyPr/>
                    <a:lstStyle/>
                    <a:p>
                      <a:pPr marL="75565" marR="215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 Black"/>
                          <a:cs typeface="Arial Black"/>
                        </a:rPr>
                        <a:t>UniFi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340" marR="946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36.180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 marR="1035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36.180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2255" marR="31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0,00%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148181" y="2677320"/>
            <a:ext cx="231203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solidFill>
                  <a:srgbClr val="961F38"/>
                </a:solidFill>
                <a:latin typeface="Tahoma"/>
                <a:cs typeface="Tahoma"/>
              </a:rPr>
              <a:t>Tabela: </a:t>
            </a:r>
            <a:r>
              <a:rPr dirty="0" sz="900" spc="-20">
                <a:latin typeface="Tahoma"/>
                <a:cs typeface="Tahoma"/>
              </a:rPr>
              <a:t>Consolidação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dos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Datasets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do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Campus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2" name="object 12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6902" y="-1451"/>
            <a:ext cx="37401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Metodologia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600075"/>
          </a:xfrm>
          <a:custGeom>
            <a:avLst/>
            <a:gdLst/>
            <a:ahLst/>
            <a:cxnLst/>
            <a:rect l="l" t="t" r="r" b="b"/>
            <a:pathLst>
              <a:path w="4608195" h="600075">
                <a:moveTo>
                  <a:pt x="4607992" y="0"/>
                </a:moveTo>
                <a:lnTo>
                  <a:pt x="2303996" y="0"/>
                </a:lnTo>
                <a:lnTo>
                  <a:pt x="2303996" y="116687"/>
                </a:lnTo>
                <a:lnTo>
                  <a:pt x="4607992" y="116687"/>
                </a:lnTo>
                <a:lnTo>
                  <a:pt x="4607992" y="0"/>
                </a:lnTo>
                <a:close/>
              </a:path>
              <a:path w="4608195" h="600075">
                <a:moveTo>
                  <a:pt x="4608004" y="116700"/>
                </a:moveTo>
                <a:lnTo>
                  <a:pt x="0" y="116700"/>
                </a:lnTo>
                <a:lnTo>
                  <a:pt x="0" y="599668"/>
                </a:lnTo>
                <a:lnTo>
                  <a:pt x="4608004" y="599668"/>
                </a:lnTo>
                <a:lnTo>
                  <a:pt x="4608004" y="11670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pc="-10"/>
              <a:t>Metodologia</a:t>
            </a: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800">
                <a:latin typeface="Arial MT"/>
                <a:cs typeface="Arial MT"/>
              </a:rPr>
              <a:t>Fluxo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Processamento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Limpeza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7723" y="1220343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569" y="0"/>
                </a:moveTo>
                <a:lnTo>
                  <a:pt x="0" y="0"/>
                </a:lnTo>
                <a:lnTo>
                  <a:pt x="0" y="88569"/>
                </a:lnTo>
                <a:lnTo>
                  <a:pt x="88569" y="88569"/>
                </a:lnTo>
                <a:lnTo>
                  <a:pt x="88569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7723" y="156196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569" y="0"/>
                </a:moveTo>
                <a:lnTo>
                  <a:pt x="0" y="0"/>
                </a:lnTo>
                <a:lnTo>
                  <a:pt x="0" y="88569"/>
                </a:lnTo>
                <a:lnTo>
                  <a:pt x="88569" y="88569"/>
                </a:lnTo>
                <a:lnTo>
                  <a:pt x="88569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7723" y="1890928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569" y="0"/>
                </a:moveTo>
                <a:lnTo>
                  <a:pt x="0" y="0"/>
                </a:lnTo>
                <a:lnTo>
                  <a:pt x="0" y="88569"/>
                </a:lnTo>
                <a:lnTo>
                  <a:pt x="88569" y="88569"/>
                </a:lnTo>
                <a:lnTo>
                  <a:pt x="88569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8718" y="207763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609" y="0"/>
                </a:moveTo>
                <a:lnTo>
                  <a:pt x="0" y="0"/>
                </a:lnTo>
                <a:lnTo>
                  <a:pt x="0" y="50609"/>
                </a:lnTo>
                <a:lnTo>
                  <a:pt x="50609" y="50609"/>
                </a:lnTo>
                <a:lnTo>
                  <a:pt x="50609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8718" y="221681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609" y="0"/>
                </a:moveTo>
                <a:lnTo>
                  <a:pt x="0" y="0"/>
                </a:lnTo>
                <a:lnTo>
                  <a:pt x="0" y="50609"/>
                </a:lnTo>
                <a:lnTo>
                  <a:pt x="50609" y="50609"/>
                </a:lnTo>
                <a:lnTo>
                  <a:pt x="50609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8718" y="235597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609" y="0"/>
                </a:moveTo>
                <a:lnTo>
                  <a:pt x="0" y="0"/>
                </a:lnTo>
                <a:lnTo>
                  <a:pt x="0" y="50609"/>
                </a:lnTo>
                <a:lnTo>
                  <a:pt x="50609" y="50609"/>
                </a:lnTo>
                <a:lnTo>
                  <a:pt x="50609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8718" y="249515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609" y="0"/>
                </a:moveTo>
                <a:lnTo>
                  <a:pt x="0" y="0"/>
                </a:lnTo>
                <a:lnTo>
                  <a:pt x="0" y="50609"/>
                </a:lnTo>
                <a:lnTo>
                  <a:pt x="50609" y="50609"/>
                </a:lnTo>
                <a:lnTo>
                  <a:pt x="50609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35775" y="1153939"/>
            <a:ext cx="3989070" cy="1427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3510" marR="267335" indent="-131445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dirty="0" sz="700" spc="3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14">
                <a:latin typeface="Arial Black"/>
                <a:cs typeface="Arial Black"/>
              </a:rPr>
              <a:t>Limpeza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165">
                <a:latin typeface="Arial Black"/>
                <a:cs typeface="Arial Black"/>
              </a:rPr>
              <a:t>e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105">
                <a:latin typeface="Arial Black"/>
                <a:cs typeface="Arial Black"/>
              </a:rPr>
              <a:t>Deduplicação</a:t>
            </a:r>
            <a:r>
              <a:rPr dirty="0" sz="1000" spc="-105">
                <a:latin typeface="Arial MT"/>
                <a:cs typeface="Arial MT"/>
              </a:rPr>
              <a:t>:</a:t>
            </a:r>
            <a:r>
              <a:rPr dirty="0" sz="1000" spc="12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Eliminação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logs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vazios,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duplicados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e inconsistências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temporais.</a:t>
            </a:r>
            <a:endParaRPr sz="1000">
              <a:latin typeface="Arial MT"/>
              <a:cs typeface="Arial MT"/>
            </a:endParaRPr>
          </a:p>
          <a:p>
            <a:pPr marL="143510" marR="5080" indent="-131445">
              <a:lnSpc>
                <a:spcPct val="100000"/>
              </a:lnSpc>
              <a:spcBef>
                <a:spcPts val="290"/>
              </a:spcBef>
            </a:pPr>
            <a:r>
              <a:rPr dirty="0" sz="70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dirty="0" sz="700" spc="2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10">
                <a:latin typeface="Arial Black"/>
                <a:cs typeface="Arial Black"/>
              </a:rPr>
              <a:t>Tratamento</a:t>
            </a:r>
            <a:r>
              <a:rPr dirty="0" sz="1000" spc="25">
                <a:latin typeface="Arial Black"/>
                <a:cs typeface="Arial Black"/>
              </a:rPr>
              <a:t> </a:t>
            </a:r>
            <a:r>
              <a:rPr dirty="0" sz="1000" spc="-140">
                <a:latin typeface="Arial Black"/>
                <a:cs typeface="Arial Black"/>
              </a:rPr>
              <a:t>de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80">
                <a:latin typeface="Arial Black"/>
                <a:cs typeface="Arial Black"/>
              </a:rPr>
              <a:t>Nulos</a:t>
            </a:r>
            <a:r>
              <a:rPr dirty="0" sz="1000" spc="-80">
                <a:latin typeface="Arial MT"/>
                <a:cs typeface="Arial MT"/>
              </a:rPr>
              <a:t>:</a:t>
            </a:r>
            <a:r>
              <a:rPr dirty="0" sz="1000" spc="10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Tratamento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variáveis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como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i="1">
                <a:latin typeface="Arial"/>
                <a:cs typeface="Arial"/>
              </a:rPr>
              <a:t>Link</a:t>
            </a:r>
            <a:r>
              <a:rPr dirty="0" sz="1000" spc="10" i="1">
                <a:latin typeface="Arial"/>
                <a:cs typeface="Arial"/>
              </a:rPr>
              <a:t> </a:t>
            </a:r>
            <a:r>
              <a:rPr dirty="0" sz="1000" spc="-60" i="1">
                <a:latin typeface="Arial"/>
                <a:cs typeface="Arial"/>
              </a:rPr>
              <a:t>Speed</a:t>
            </a:r>
            <a:r>
              <a:rPr dirty="0" sz="1000" spc="80" i="1">
                <a:latin typeface="Arial"/>
                <a:cs typeface="Arial"/>
              </a:rPr>
              <a:t> </a:t>
            </a:r>
            <a:r>
              <a:rPr dirty="0" sz="1000" spc="-25">
                <a:latin typeface="Arial MT"/>
                <a:cs typeface="Arial MT"/>
              </a:rPr>
              <a:t>do </a:t>
            </a:r>
            <a:r>
              <a:rPr dirty="0" sz="1000" spc="-60">
                <a:latin typeface="Arial MT"/>
                <a:cs typeface="Arial MT"/>
              </a:rPr>
              <a:t>Ruckus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 i="1">
                <a:latin typeface="Arial"/>
                <a:cs typeface="Arial"/>
              </a:rPr>
              <a:t>Client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spc="-40" i="1">
                <a:latin typeface="Arial"/>
                <a:cs typeface="Arial"/>
              </a:rPr>
              <a:t>Connection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Quality</a:t>
            </a:r>
            <a:r>
              <a:rPr dirty="0" sz="1000" spc="60" i="1">
                <a:latin typeface="Arial"/>
                <a:cs typeface="Arial"/>
              </a:rPr>
              <a:t> </a:t>
            </a:r>
            <a:r>
              <a:rPr dirty="0" sz="1000">
                <a:latin typeface="Arial MT"/>
                <a:cs typeface="Arial MT"/>
              </a:rPr>
              <a:t>(</a:t>
            </a:r>
            <a:r>
              <a:rPr dirty="0" sz="1000" i="1">
                <a:latin typeface="Arial"/>
                <a:cs typeface="Arial"/>
              </a:rPr>
              <a:t>CCQ</a:t>
            </a:r>
            <a:r>
              <a:rPr dirty="0" sz="1000">
                <a:latin typeface="Arial MT"/>
                <a:cs typeface="Arial MT"/>
              </a:rPr>
              <a:t>)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UniFi.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70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dirty="0" sz="700" spc="15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1000" spc="-125">
                <a:latin typeface="Arial Black"/>
                <a:cs typeface="Arial Black"/>
              </a:rPr>
              <a:t>Padronização</a:t>
            </a:r>
            <a:r>
              <a:rPr dirty="0" sz="1000" spc="55">
                <a:latin typeface="Arial Black"/>
                <a:cs typeface="Arial Black"/>
              </a:rPr>
              <a:t> </a:t>
            </a:r>
            <a:r>
              <a:rPr dirty="0" sz="1000" spc="-114">
                <a:latin typeface="Arial Black"/>
                <a:cs typeface="Arial Black"/>
              </a:rPr>
              <a:t>Métricas</a:t>
            </a:r>
            <a:r>
              <a:rPr dirty="0" sz="1000" spc="50">
                <a:latin typeface="Arial Black"/>
                <a:cs typeface="Arial Black"/>
              </a:rPr>
              <a:t> </a:t>
            </a:r>
            <a:r>
              <a:rPr dirty="0" sz="1000" spc="-140">
                <a:latin typeface="Arial Black"/>
                <a:cs typeface="Arial Black"/>
              </a:rPr>
              <a:t>de</a:t>
            </a:r>
            <a:r>
              <a:rPr dirty="0" sz="1000" spc="50">
                <a:latin typeface="Arial Black"/>
                <a:cs typeface="Arial Black"/>
              </a:rPr>
              <a:t> </a:t>
            </a:r>
            <a:r>
              <a:rPr dirty="0" sz="1000" spc="-25">
                <a:latin typeface="Arial Black"/>
                <a:cs typeface="Arial Black"/>
              </a:rPr>
              <a:t>RF</a:t>
            </a:r>
            <a:r>
              <a:rPr dirty="0" sz="1000" spc="-25">
                <a:latin typeface="Arial MT"/>
                <a:cs typeface="Arial MT"/>
              </a:rPr>
              <a:t>:</a:t>
            </a:r>
            <a:endParaRPr sz="1000">
              <a:latin typeface="Arial MT"/>
              <a:cs typeface="Arial MT"/>
            </a:endParaRPr>
          </a:p>
          <a:p>
            <a:pPr marL="396240" marR="448309">
              <a:lnSpc>
                <a:spcPct val="101499"/>
              </a:lnSpc>
              <a:spcBef>
                <a:spcPts val="180"/>
              </a:spcBef>
            </a:pPr>
            <a:r>
              <a:rPr dirty="0" sz="900" spc="-35">
                <a:latin typeface="Tahoma"/>
                <a:cs typeface="Tahoma"/>
              </a:rPr>
              <a:t>Intensidade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de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Sinal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(IS)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e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Ruído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de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Fundo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mapeados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em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35">
                <a:latin typeface="Arial Black"/>
                <a:cs typeface="Arial Black"/>
              </a:rPr>
              <a:t>dBm</a:t>
            </a:r>
            <a:r>
              <a:rPr dirty="0" sz="900" spc="-35">
                <a:latin typeface="Tahoma"/>
                <a:cs typeface="Tahoma"/>
              </a:rPr>
              <a:t>. </a:t>
            </a:r>
            <a:r>
              <a:rPr dirty="0" sz="900">
                <a:latin typeface="Tahoma"/>
                <a:cs typeface="Tahoma"/>
              </a:rPr>
              <a:t>RSSI</a:t>
            </a:r>
            <a:r>
              <a:rPr dirty="0" sz="900" spc="10">
                <a:latin typeface="Tahoma"/>
                <a:cs typeface="Tahoma"/>
              </a:rPr>
              <a:t> </a:t>
            </a:r>
            <a:r>
              <a:rPr dirty="0" sz="900" spc="105">
                <a:latin typeface="Tahoma"/>
                <a:cs typeface="Tahoma"/>
              </a:rPr>
              <a:t>/</a:t>
            </a:r>
            <a:r>
              <a:rPr dirty="0" sz="900" spc="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SNR</a:t>
            </a:r>
            <a:r>
              <a:rPr dirty="0" sz="900" spc="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padronizados</a:t>
            </a:r>
            <a:r>
              <a:rPr dirty="0" sz="900" spc="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em</a:t>
            </a:r>
            <a:r>
              <a:rPr dirty="0" sz="900" spc="15">
                <a:latin typeface="Tahoma"/>
                <a:cs typeface="Tahoma"/>
              </a:rPr>
              <a:t> </a:t>
            </a:r>
            <a:r>
              <a:rPr dirty="0" sz="900" spc="-25">
                <a:latin typeface="Arial Black"/>
                <a:cs typeface="Arial Black"/>
              </a:rPr>
              <a:t>dB</a:t>
            </a:r>
            <a:r>
              <a:rPr dirty="0" sz="900" spc="-25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  <a:p>
            <a:pPr marL="396240" marR="636905">
              <a:lnSpc>
                <a:spcPct val="101499"/>
              </a:lnSpc>
            </a:pPr>
            <a:r>
              <a:rPr dirty="0" sz="900">
                <a:latin typeface="Tahoma"/>
                <a:cs typeface="Tahoma"/>
              </a:rPr>
              <a:t>Throughput</a:t>
            </a:r>
            <a:r>
              <a:rPr dirty="0" sz="900" spc="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total,</a:t>
            </a:r>
            <a:r>
              <a:rPr dirty="0" sz="900" spc="2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download</a:t>
            </a:r>
            <a:r>
              <a:rPr dirty="0" sz="900" spc="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(TX)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e</a:t>
            </a:r>
            <a:r>
              <a:rPr dirty="0" sz="900" spc="2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upload</a:t>
            </a:r>
            <a:r>
              <a:rPr dirty="0" sz="900" spc="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(RX)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em</a:t>
            </a:r>
            <a:r>
              <a:rPr dirty="0" sz="900" spc="20">
                <a:latin typeface="Tahoma"/>
                <a:cs typeface="Tahoma"/>
              </a:rPr>
              <a:t> </a:t>
            </a:r>
            <a:r>
              <a:rPr dirty="0" sz="900" spc="-50">
                <a:latin typeface="Arial Black"/>
                <a:cs typeface="Arial Black"/>
              </a:rPr>
              <a:t>Mbps</a:t>
            </a:r>
            <a:r>
              <a:rPr dirty="0" sz="900" spc="-50">
                <a:latin typeface="Tahoma"/>
                <a:cs typeface="Tahoma"/>
              </a:rPr>
              <a:t>. </a:t>
            </a:r>
            <a:r>
              <a:rPr dirty="0" sz="900">
                <a:latin typeface="Tahoma"/>
                <a:cs typeface="Tahoma"/>
              </a:rPr>
              <a:t>Volume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total</a:t>
            </a:r>
            <a:r>
              <a:rPr dirty="0" sz="900" spc="-25">
                <a:latin typeface="Tahoma"/>
                <a:cs typeface="Tahoma"/>
              </a:rPr>
              <a:t> trafegado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em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25">
                <a:latin typeface="Arial Black"/>
                <a:cs typeface="Arial Black"/>
              </a:rPr>
              <a:t>MB</a:t>
            </a:r>
            <a:r>
              <a:rPr dirty="0" sz="900" spc="-25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4" name="object 14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6902" y="-1451"/>
            <a:ext cx="37401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Metodologia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600075"/>
          </a:xfrm>
          <a:custGeom>
            <a:avLst/>
            <a:gdLst/>
            <a:ahLst/>
            <a:cxnLst/>
            <a:rect l="l" t="t" r="r" b="b"/>
            <a:pathLst>
              <a:path w="4608195" h="600075">
                <a:moveTo>
                  <a:pt x="4607992" y="0"/>
                </a:moveTo>
                <a:lnTo>
                  <a:pt x="2303996" y="0"/>
                </a:lnTo>
                <a:lnTo>
                  <a:pt x="2303996" y="116687"/>
                </a:lnTo>
                <a:lnTo>
                  <a:pt x="4607992" y="116687"/>
                </a:lnTo>
                <a:lnTo>
                  <a:pt x="4607992" y="0"/>
                </a:lnTo>
                <a:close/>
              </a:path>
              <a:path w="4608195" h="600075">
                <a:moveTo>
                  <a:pt x="4608004" y="116700"/>
                </a:moveTo>
                <a:lnTo>
                  <a:pt x="0" y="116700"/>
                </a:lnTo>
                <a:lnTo>
                  <a:pt x="0" y="599668"/>
                </a:lnTo>
                <a:lnTo>
                  <a:pt x="4608004" y="599668"/>
                </a:lnTo>
                <a:lnTo>
                  <a:pt x="4608004" y="11670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5300" y="127137"/>
            <a:ext cx="1679575" cy="442595"/>
          </a:xfrm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pc="-10"/>
              <a:t>Metodologia</a:t>
            </a: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800" spc="-10">
                <a:latin typeface="Arial MT"/>
                <a:cs typeface="Arial MT"/>
              </a:rPr>
              <a:t>Limiares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Determinísticos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Gargalos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045" y="135224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0045" y="154203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0045" y="188365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0045" y="237710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0045" y="271872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3792" y="855642"/>
            <a:ext cx="4320540" cy="2109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latin typeface="Arial MT"/>
                <a:cs typeface="Arial MT"/>
              </a:rPr>
              <a:t>Construção</a:t>
            </a:r>
            <a:r>
              <a:rPr dirty="0" sz="1000" spc="-30">
                <a:latin typeface="Arial MT"/>
                <a:cs typeface="Arial MT"/>
              </a:rPr>
              <a:t> de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uma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árvore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decisão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baseada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em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5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perfis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heurísticos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gargalos de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rede:</a:t>
            </a:r>
            <a:endParaRPr sz="10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855"/>
              </a:spcBef>
            </a:pPr>
            <a:r>
              <a:rPr dirty="0" sz="1000" spc="-40">
                <a:latin typeface="Arial Black"/>
                <a:cs typeface="Arial Black"/>
              </a:rPr>
              <a:t>G1:</a:t>
            </a:r>
            <a:r>
              <a:rPr dirty="0" sz="1000" spc="-25">
                <a:latin typeface="Arial Black"/>
                <a:cs typeface="Arial Black"/>
              </a:rPr>
              <a:t> </a:t>
            </a:r>
            <a:r>
              <a:rPr dirty="0" sz="1000" spc="-120">
                <a:latin typeface="Arial Black"/>
                <a:cs typeface="Arial Black"/>
              </a:rPr>
              <a:t>Baixa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114">
                <a:latin typeface="Arial Black"/>
                <a:cs typeface="Arial Black"/>
              </a:rPr>
              <a:t>Qualidade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140">
                <a:latin typeface="Arial Black"/>
                <a:cs typeface="Arial Black"/>
              </a:rPr>
              <a:t>de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90">
                <a:latin typeface="Arial Black"/>
                <a:cs typeface="Arial Black"/>
              </a:rPr>
              <a:t>Enlace</a:t>
            </a:r>
            <a:r>
              <a:rPr dirty="0" sz="1000" spc="-90">
                <a:latin typeface="Arial MT"/>
                <a:cs typeface="Arial MT"/>
              </a:rPr>
              <a:t>:</a:t>
            </a:r>
            <a:r>
              <a:rPr dirty="0" sz="1000" spc="8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Intensidade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Sinal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</a:t>
            </a:r>
            <a:r>
              <a:rPr dirty="0" sz="1000" i="1">
                <a:latin typeface="Arial"/>
                <a:cs typeface="Arial"/>
              </a:rPr>
              <a:t>IS</a:t>
            </a:r>
            <a:r>
              <a:rPr dirty="0" sz="1000" spc="40" i="1">
                <a:latin typeface="Arial"/>
                <a:cs typeface="Arial"/>
              </a:rPr>
              <a:t> </a:t>
            </a:r>
            <a:r>
              <a:rPr dirty="0" sz="1000" spc="-50" i="1">
                <a:latin typeface="Verdana"/>
                <a:cs typeface="Verdana"/>
              </a:rPr>
              <a:t>&lt;</a:t>
            </a:r>
            <a:r>
              <a:rPr dirty="0" sz="1000" spc="-75" i="1">
                <a:latin typeface="Verdana"/>
                <a:cs typeface="Verdana"/>
              </a:rPr>
              <a:t> </a:t>
            </a:r>
            <a:r>
              <a:rPr dirty="0" sz="1000" i="1">
                <a:latin typeface="Georgia"/>
                <a:cs typeface="Georgia"/>
              </a:rPr>
              <a:t>−</a:t>
            </a:r>
            <a:r>
              <a:rPr dirty="0" sz="1000">
                <a:latin typeface="Arial MT"/>
                <a:cs typeface="Arial MT"/>
              </a:rPr>
              <a:t>75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dBm).</a:t>
            </a:r>
            <a:endParaRPr sz="1000">
              <a:latin typeface="Arial MT"/>
              <a:cs typeface="Arial MT"/>
            </a:endParaRPr>
          </a:p>
          <a:p>
            <a:pPr marL="265430" marR="394970">
              <a:lnSpc>
                <a:spcPct val="100000"/>
              </a:lnSpc>
              <a:spcBef>
                <a:spcPts val="295"/>
              </a:spcBef>
            </a:pPr>
            <a:r>
              <a:rPr dirty="0" sz="1000" spc="-40">
                <a:latin typeface="Arial Black"/>
                <a:cs typeface="Arial Black"/>
              </a:rPr>
              <a:t>G2:</a:t>
            </a:r>
            <a:r>
              <a:rPr dirty="0" sz="1000" spc="5">
                <a:latin typeface="Arial Black"/>
                <a:cs typeface="Arial Black"/>
              </a:rPr>
              <a:t> </a:t>
            </a:r>
            <a:r>
              <a:rPr dirty="0" sz="1000" spc="-125">
                <a:latin typeface="Arial Black"/>
                <a:cs typeface="Arial Black"/>
              </a:rPr>
              <a:t>Congestionamento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114">
                <a:latin typeface="Arial Black"/>
                <a:cs typeface="Arial Black"/>
              </a:rPr>
              <a:t>do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45">
                <a:latin typeface="Arial Black"/>
                <a:cs typeface="Arial Black"/>
              </a:rPr>
              <a:t>Meio</a:t>
            </a:r>
            <a:r>
              <a:rPr dirty="0" sz="1000" spc="-45">
                <a:latin typeface="Arial MT"/>
                <a:cs typeface="Arial MT"/>
              </a:rPr>
              <a:t>:</a:t>
            </a:r>
            <a:r>
              <a:rPr dirty="0" sz="1000" spc="11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Densidade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AP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85">
                <a:latin typeface="Arial MT"/>
                <a:cs typeface="Arial MT"/>
              </a:rPr>
              <a:t>(</a:t>
            </a:r>
            <a:r>
              <a:rPr dirty="0" sz="1000" spc="85" i="1">
                <a:latin typeface="Georgia"/>
                <a:cs typeface="Georgia"/>
              </a:rPr>
              <a:t>≥</a:t>
            </a:r>
            <a:r>
              <a:rPr dirty="0" sz="1000" spc="5" i="1">
                <a:latin typeface="Georgia"/>
                <a:cs typeface="Georgia"/>
              </a:rPr>
              <a:t> </a:t>
            </a:r>
            <a:r>
              <a:rPr dirty="0" sz="1000">
                <a:latin typeface="Arial MT"/>
                <a:cs typeface="Arial MT"/>
              </a:rPr>
              <a:t>15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clientes </a:t>
            </a:r>
            <a:r>
              <a:rPr dirty="0" sz="1000" spc="-40">
                <a:latin typeface="Arial MT"/>
                <a:cs typeface="Arial MT"/>
              </a:rPr>
              <a:t>simultâneos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por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AP/minuto).</a:t>
            </a:r>
            <a:endParaRPr sz="1000">
              <a:latin typeface="Arial MT"/>
              <a:cs typeface="Arial MT"/>
            </a:endParaRPr>
          </a:p>
          <a:p>
            <a:pPr algn="just" marL="265430" marR="36830">
              <a:lnSpc>
                <a:spcPct val="100000"/>
              </a:lnSpc>
              <a:spcBef>
                <a:spcPts val="290"/>
              </a:spcBef>
            </a:pPr>
            <a:r>
              <a:rPr dirty="0" sz="1000" spc="-90">
                <a:latin typeface="Arial Black"/>
                <a:cs typeface="Arial Black"/>
              </a:rPr>
              <a:t>G3:</a:t>
            </a:r>
            <a:r>
              <a:rPr dirty="0" sz="1000" spc="150">
                <a:latin typeface="Arial Black"/>
                <a:cs typeface="Arial Black"/>
              </a:rPr>
              <a:t> </a:t>
            </a:r>
            <a:r>
              <a:rPr dirty="0" sz="1000" spc="-110">
                <a:latin typeface="Arial Black"/>
                <a:cs typeface="Arial Black"/>
              </a:rPr>
              <a:t>Interferência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114">
                <a:latin typeface="Arial Black"/>
                <a:cs typeface="Arial Black"/>
              </a:rPr>
              <a:t>ou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90">
                <a:latin typeface="Arial Black"/>
                <a:cs typeface="Arial Black"/>
              </a:rPr>
              <a:t>SNR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95">
                <a:latin typeface="Arial Black"/>
                <a:cs typeface="Arial Black"/>
              </a:rPr>
              <a:t>Ruim</a:t>
            </a:r>
            <a:r>
              <a:rPr dirty="0" sz="1000" spc="-95">
                <a:latin typeface="Arial MT"/>
                <a:cs typeface="Arial MT"/>
              </a:rPr>
              <a:t>:</a:t>
            </a:r>
            <a:r>
              <a:rPr dirty="0" sz="1000" spc="16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Ruído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permanente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(</a:t>
            </a:r>
            <a:r>
              <a:rPr dirty="0" sz="1000" spc="-45" i="1">
                <a:latin typeface="Arial"/>
                <a:cs typeface="Arial"/>
              </a:rPr>
              <a:t>Noise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 spc="-45" i="1">
                <a:latin typeface="Verdana"/>
                <a:cs typeface="Verdana"/>
              </a:rPr>
              <a:t>&gt;</a:t>
            </a:r>
            <a:r>
              <a:rPr dirty="0" sz="1000" spc="-75" i="1">
                <a:latin typeface="Verdana"/>
                <a:cs typeface="Verdana"/>
              </a:rPr>
              <a:t> </a:t>
            </a:r>
            <a:r>
              <a:rPr dirty="0" sz="1000" spc="5" i="1">
                <a:latin typeface="Georgia"/>
                <a:cs typeface="Georgia"/>
              </a:rPr>
              <a:t>−</a:t>
            </a:r>
            <a:r>
              <a:rPr dirty="0" sz="1000" spc="5">
                <a:latin typeface="Arial MT"/>
                <a:cs typeface="Arial MT"/>
              </a:rPr>
              <a:t>90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dBm)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ou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relação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sinal-</a:t>
            </a:r>
            <a:r>
              <a:rPr dirty="0" sz="1000" spc="-40">
                <a:latin typeface="Arial MT"/>
                <a:cs typeface="Arial MT"/>
              </a:rPr>
              <a:t>ruído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marginal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(</a:t>
            </a:r>
            <a:r>
              <a:rPr dirty="0" sz="1000" spc="-45" i="1">
                <a:latin typeface="Arial"/>
                <a:cs typeface="Arial"/>
              </a:rPr>
              <a:t>SNR</a:t>
            </a:r>
            <a:r>
              <a:rPr dirty="0" sz="1000" spc="75" i="1">
                <a:latin typeface="Arial"/>
                <a:cs typeface="Arial"/>
              </a:rPr>
              <a:t> </a:t>
            </a:r>
            <a:r>
              <a:rPr dirty="0" sz="1000" spc="-45" i="1">
                <a:latin typeface="Verdana"/>
                <a:cs typeface="Verdana"/>
              </a:rPr>
              <a:t>&lt;</a:t>
            </a:r>
            <a:r>
              <a:rPr dirty="0" sz="1000" spc="-75" i="1">
                <a:latin typeface="Verdana"/>
                <a:cs typeface="Verdana"/>
              </a:rPr>
              <a:t> </a:t>
            </a:r>
            <a:r>
              <a:rPr dirty="0" sz="1000" spc="-55">
                <a:latin typeface="Arial MT"/>
                <a:cs typeface="Arial MT"/>
              </a:rPr>
              <a:t>20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dB)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mesmo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com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boa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IS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85">
                <a:latin typeface="Arial MT"/>
                <a:cs typeface="Arial MT"/>
              </a:rPr>
              <a:t>(</a:t>
            </a:r>
            <a:r>
              <a:rPr dirty="0" sz="1000" spc="85" i="1">
                <a:latin typeface="Georgia"/>
                <a:cs typeface="Georgia"/>
              </a:rPr>
              <a:t>≥</a:t>
            </a:r>
            <a:r>
              <a:rPr dirty="0" sz="1000" spc="35" i="1">
                <a:latin typeface="Georgia"/>
                <a:cs typeface="Georgia"/>
              </a:rPr>
              <a:t> </a:t>
            </a:r>
            <a:r>
              <a:rPr dirty="0" sz="1000" spc="5" i="1">
                <a:latin typeface="Georgia"/>
                <a:cs typeface="Georgia"/>
              </a:rPr>
              <a:t>−</a:t>
            </a:r>
            <a:r>
              <a:rPr dirty="0" sz="1000" spc="5">
                <a:latin typeface="Arial MT"/>
                <a:cs typeface="Arial MT"/>
              </a:rPr>
              <a:t>75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dBm).</a:t>
            </a:r>
            <a:endParaRPr sz="1000">
              <a:latin typeface="Arial MT"/>
              <a:cs typeface="Arial MT"/>
            </a:endParaRPr>
          </a:p>
          <a:p>
            <a:pPr algn="just" marL="265430" marR="100330">
              <a:lnSpc>
                <a:spcPct val="100000"/>
              </a:lnSpc>
              <a:spcBef>
                <a:spcPts val="285"/>
              </a:spcBef>
            </a:pPr>
            <a:r>
              <a:rPr dirty="0" sz="1000" spc="-20">
                <a:latin typeface="Arial Black"/>
                <a:cs typeface="Arial Black"/>
              </a:rPr>
              <a:t>G4:</a:t>
            </a:r>
            <a:r>
              <a:rPr dirty="0" sz="1000" spc="-65">
                <a:latin typeface="Arial Black"/>
                <a:cs typeface="Arial Black"/>
              </a:rPr>
              <a:t> </a:t>
            </a:r>
            <a:r>
              <a:rPr dirty="0" sz="1000" spc="-110">
                <a:latin typeface="Arial Black"/>
                <a:cs typeface="Arial Black"/>
              </a:rPr>
              <a:t>Instabilidade</a:t>
            </a:r>
            <a:r>
              <a:rPr dirty="0" sz="1000" spc="25">
                <a:latin typeface="Arial Black"/>
                <a:cs typeface="Arial Black"/>
              </a:rPr>
              <a:t> </a:t>
            </a:r>
            <a:r>
              <a:rPr dirty="0" sz="1000" spc="-160">
                <a:latin typeface="Arial Black"/>
                <a:cs typeface="Arial Black"/>
              </a:rPr>
              <a:t>de</a:t>
            </a:r>
            <a:r>
              <a:rPr dirty="0" sz="1000" spc="75">
                <a:latin typeface="Arial Black"/>
                <a:cs typeface="Arial Black"/>
              </a:rPr>
              <a:t> </a:t>
            </a:r>
            <a:r>
              <a:rPr dirty="0" sz="1000" spc="-90">
                <a:latin typeface="Arial Black"/>
                <a:cs typeface="Arial Black"/>
              </a:rPr>
              <a:t>Roaming</a:t>
            </a:r>
            <a:r>
              <a:rPr dirty="0" sz="1000" spc="-90">
                <a:latin typeface="Arial MT"/>
                <a:cs typeface="Arial MT"/>
              </a:rPr>
              <a:t>: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Dispositivos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instáveis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</a:t>
            </a:r>
            <a:r>
              <a:rPr dirty="0" sz="1000" i="1">
                <a:latin typeface="Verdana"/>
                <a:cs typeface="Verdana"/>
              </a:rPr>
              <a:t>&gt;</a:t>
            </a:r>
            <a:r>
              <a:rPr dirty="0" sz="1000" spc="-90" i="1">
                <a:latin typeface="Verdana"/>
                <a:cs typeface="Verdana"/>
              </a:rPr>
              <a:t> </a:t>
            </a:r>
            <a:r>
              <a:rPr dirty="0" sz="1000">
                <a:latin typeface="Arial MT"/>
                <a:cs typeface="Arial MT"/>
              </a:rPr>
              <a:t>5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transições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de </a:t>
            </a:r>
            <a:r>
              <a:rPr dirty="0" sz="1000" spc="-10">
                <a:latin typeface="Arial MT"/>
                <a:cs typeface="Arial MT"/>
              </a:rPr>
              <a:t>AP/dia).</a:t>
            </a:r>
            <a:endParaRPr sz="1000">
              <a:latin typeface="Arial MT"/>
              <a:cs typeface="Arial MT"/>
            </a:endParaRPr>
          </a:p>
          <a:p>
            <a:pPr algn="just" marL="265430" marR="34925">
              <a:lnSpc>
                <a:spcPct val="100000"/>
              </a:lnSpc>
              <a:spcBef>
                <a:spcPts val="290"/>
              </a:spcBef>
            </a:pPr>
            <a:r>
              <a:rPr dirty="0" sz="1000" spc="-20">
                <a:latin typeface="Arial Black"/>
                <a:cs typeface="Arial Black"/>
              </a:rPr>
              <a:t>G5:</a:t>
            </a:r>
            <a:r>
              <a:rPr dirty="0" sz="1000" spc="-65">
                <a:latin typeface="Arial Black"/>
                <a:cs typeface="Arial Black"/>
              </a:rPr>
              <a:t> </a:t>
            </a:r>
            <a:r>
              <a:rPr dirty="0" sz="1000" spc="-125">
                <a:latin typeface="Arial Black"/>
                <a:cs typeface="Arial Black"/>
              </a:rPr>
              <a:t>Gargalo</a:t>
            </a:r>
            <a:r>
              <a:rPr dirty="0" sz="1000" spc="40">
                <a:latin typeface="Arial Black"/>
                <a:cs typeface="Arial Black"/>
              </a:rPr>
              <a:t> </a:t>
            </a:r>
            <a:r>
              <a:rPr dirty="0" sz="1000" spc="-125">
                <a:latin typeface="Arial Black"/>
                <a:cs typeface="Arial Black"/>
              </a:rPr>
              <a:t>Cabeado</a:t>
            </a:r>
            <a:r>
              <a:rPr dirty="0" sz="1000" spc="40">
                <a:latin typeface="Arial Black"/>
                <a:cs typeface="Arial Black"/>
              </a:rPr>
              <a:t> </a:t>
            </a:r>
            <a:r>
              <a:rPr dirty="0" sz="1000" spc="-85">
                <a:latin typeface="Arial Black"/>
                <a:cs typeface="Arial Black"/>
              </a:rPr>
              <a:t>(Fast</a:t>
            </a:r>
            <a:r>
              <a:rPr dirty="0" sz="1000">
                <a:latin typeface="Arial Black"/>
                <a:cs typeface="Arial Black"/>
              </a:rPr>
              <a:t> </a:t>
            </a:r>
            <a:r>
              <a:rPr dirty="0" sz="1000" spc="-65">
                <a:latin typeface="Arial Black"/>
                <a:cs typeface="Arial Black"/>
              </a:rPr>
              <a:t>Ethernet)</a:t>
            </a:r>
            <a:r>
              <a:rPr dirty="0" sz="1000" spc="-65">
                <a:latin typeface="Arial MT"/>
                <a:cs typeface="Arial MT"/>
              </a:rPr>
              <a:t>: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Saturação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interface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uplink </a:t>
            </a:r>
            <a:r>
              <a:rPr dirty="0" sz="1000" spc="-25">
                <a:latin typeface="Arial MT"/>
                <a:cs typeface="Arial MT"/>
              </a:rPr>
              <a:t>do </a:t>
            </a:r>
            <a:r>
              <a:rPr dirty="0" sz="1000">
                <a:latin typeface="Arial MT"/>
                <a:cs typeface="Arial MT"/>
              </a:rPr>
              <a:t>AP </a:t>
            </a:r>
            <a:r>
              <a:rPr dirty="0" sz="1000" spc="85">
                <a:latin typeface="Arial MT"/>
                <a:cs typeface="Arial MT"/>
              </a:rPr>
              <a:t>(</a:t>
            </a:r>
            <a:r>
              <a:rPr dirty="0" sz="1000" spc="85" i="1">
                <a:latin typeface="Georgia"/>
                <a:cs typeface="Georgia"/>
              </a:rPr>
              <a:t>≥</a:t>
            </a:r>
            <a:r>
              <a:rPr dirty="0" sz="1000" spc="-5" i="1">
                <a:latin typeface="Georgia"/>
                <a:cs typeface="Georgia"/>
              </a:rPr>
              <a:t> </a:t>
            </a:r>
            <a:r>
              <a:rPr dirty="0" sz="1000">
                <a:latin typeface="Arial MT"/>
                <a:cs typeface="Arial MT"/>
              </a:rPr>
              <a:t>90 </a:t>
            </a:r>
            <a:r>
              <a:rPr dirty="0" sz="1000" spc="-10">
                <a:latin typeface="Arial MT"/>
                <a:cs typeface="Arial MT"/>
              </a:rPr>
              <a:t>Mbps).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2" name="object 12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6902" y="-1451"/>
            <a:ext cx="37401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Metodologia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600075"/>
          </a:xfrm>
          <a:custGeom>
            <a:avLst/>
            <a:gdLst/>
            <a:ahLst/>
            <a:cxnLst/>
            <a:rect l="l" t="t" r="r" b="b"/>
            <a:pathLst>
              <a:path w="4608195" h="600075">
                <a:moveTo>
                  <a:pt x="4607992" y="0"/>
                </a:moveTo>
                <a:lnTo>
                  <a:pt x="2303996" y="0"/>
                </a:lnTo>
                <a:lnTo>
                  <a:pt x="2303996" y="116687"/>
                </a:lnTo>
                <a:lnTo>
                  <a:pt x="4607992" y="116687"/>
                </a:lnTo>
                <a:lnTo>
                  <a:pt x="4607992" y="0"/>
                </a:lnTo>
                <a:close/>
              </a:path>
              <a:path w="4608195" h="600075">
                <a:moveTo>
                  <a:pt x="4608004" y="116700"/>
                </a:moveTo>
                <a:lnTo>
                  <a:pt x="0" y="116700"/>
                </a:lnTo>
                <a:lnTo>
                  <a:pt x="0" y="599668"/>
                </a:lnTo>
                <a:lnTo>
                  <a:pt x="4608004" y="599668"/>
                </a:lnTo>
                <a:lnTo>
                  <a:pt x="4608004" y="11670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5300" y="176552"/>
            <a:ext cx="94615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Metodologia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300" y="422642"/>
            <a:ext cx="3923029" cy="550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Agrupamento</a:t>
            </a:r>
            <a:r>
              <a:rPr dirty="0"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Operacional</a:t>
            </a:r>
            <a:r>
              <a:rPr dirty="0"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(K-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Means)</a:t>
            </a:r>
            <a:endParaRPr sz="800">
              <a:latin typeface="Arial MT"/>
              <a:cs typeface="Arial MT"/>
            </a:endParaRPr>
          </a:p>
          <a:p>
            <a:pPr marL="31115" marR="5080">
              <a:lnSpc>
                <a:spcPct val="100000"/>
              </a:lnSpc>
              <a:spcBef>
                <a:spcPts val="780"/>
              </a:spcBef>
            </a:pPr>
            <a:r>
              <a:rPr dirty="0" sz="1000" spc="-40">
                <a:latin typeface="Arial MT"/>
                <a:cs typeface="Arial MT"/>
              </a:rPr>
              <a:t>Para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validação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dos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gargalos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forma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não-</a:t>
            </a:r>
            <a:r>
              <a:rPr dirty="0" sz="1000" spc="-50">
                <a:latin typeface="Arial MT"/>
                <a:cs typeface="Arial MT"/>
              </a:rPr>
              <a:t>supervisionada,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estruturou-</a:t>
            </a:r>
            <a:r>
              <a:rPr dirty="0" sz="1000">
                <a:latin typeface="Arial MT"/>
                <a:cs typeface="Arial MT"/>
              </a:rPr>
              <a:t>se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o </a:t>
            </a:r>
            <a:r>
              <a:rPr dirty="0" sz="1000" spc="-10">
                <a:latin typeface="Arial MT"/>
                <a:cs typeface="Arial MT"/>
              </a:rPr>
              <a:t>algoritmo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K-</a:t>
            </a:r>
            <a:r>
              <a:rPr dirty="0" sz="1000" spc="-10">
                <a:latin typeface="Arial MT"/>
                <a:cs typeface="Arial MT"/>
              </a:rPr>
              <a:t>Means.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4315" y="1023023"/>
          <a:ext cx="4516120" cy="1572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9285"/>
              </a:tblGrid>
              <a:tr h="165735"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  <a:spcBef>
                          <a:spcPts val="20"/>
                        </a:spcBef>
                      </a:pPr>
                      <a:r>
                        <a:rPr dirty="0" sz="10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Vetor</a:t>
                      </a:r>
                      <a:r>
                        <a:rPr dirty="0" sz="1000" spc="-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de</a:t>
                      </a:r>
                      <a:r>
                        <a:rPr dirty="0" sz="100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Features</a:t>
                      </a:r>
                      <a:r>
                        <a:rPr dirty="0" sz="10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Euclidiano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solidFill>
                      <a:srgbClr val="70182A"/>
                    </a:solidFill>
                  </a:tcPr>
                </a:tc>
              </a:tr>
              <a:tr h="140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i="1">
                          <a:latin typeface="Arial"/>
                          <a:cs typeface="Arial"/>
                        </a:rPr>
                        <a:t>X</a:t>
                      </a:r>
                      <a:r>
                        <a:rPr dirty="0" baseline="-11904" sz="1050" i="1">
                          <a:latin typeface="Sitka Heading"/>
                          <a:cs typeface="Sitka Heading"/>
                        </a:rPr>
                        <a:t>j</a:t>
                      </a:r>
                      <a:r>
                        <a:rPr dirty="0" baseline="-11904" sz="1050" spc="352" i="1">
                          <a:latin typeface="Sitka Heading"/>
                          <a:cs typeface="Sitka Heading"/>
                        </a:rPr>
                        <a:t> </a:t>
                      </a:r>
                      <a:r>
                        <a:rPr dirty="0" sz="1000" spc="180"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10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 i="1">
                          <a:latin typeface="Georgia"/>
                          <a:cs typeface="Georgia"/>
                        </a:rPr>
                        <a:t>{</a:t>
                      </a:r>
                      <a:r>
                        <a:rPr dirty="0" sz="1000" spc="-20" i="1">
                          <a:latin typeface="Arial"/>
                          <a:cs typeface="Arial"/>
                        </a:rPr>
                        <a:t>C</a:t>
                      </a:r>
                      <a:r>
                        <a:rPr dirty="0" baseline="-11904" sz="1050" spc="-30" i="1">
                          <a:latin typeface="Sitka Heading"/>
                          <a:cs typeface="Sitka Heading"/>
                        </a:rPr>
                        <a:t>j</a:t>
                      </a:r>
                      <a:r>
                        <a:rPr dirty="0" baseline="-11904" sz="1050" spc="-89" i="1">
                          <a:latin typeface="Sitka Heading"/>
                          <a:cs typeface="Sitka Heading"/>
                        </a:rPr>
                        <a:t> </a:t>
                      </a:r>
                      <a:r>
                        <a:rPr dirty="0" sz="1000" spc="-95" i="1">
                          <a:latin typeface="Verdana"/>
                          <a:cs typeface="Verdana"/>
                        </a:rPr>
                        <a:t>,</a:t>
                      </a:r>
                      <a:r>
                        <a:rPr dirty="0" sz="1000" spc="-175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904" sz="1050" i="1">
                          <a:latin typeface="Sitka Heading"/>
                          <a:cs typeface="Sitka Heading"/>
                        </a:rPr>
                        <a:t>j</a:t>
                      </a:r>
                      <a:r>
                        <a:rPr dirty="0" baseline="-11904" sz="1050" spc="-89" i="1">
                          <a:latin typeface="Sitka Heading"/>
                          <a:cs typeface="Sitka Heading"/>
                        </a:rPr>
                        <a:t> </a:t>
                      </a:r>
                      <a:r>
                        <a:rPr dirty="0" sz="1000" spc="-95" i="1">
                          <a:latin typeface="Verdana"/>
                          <a:cs typeface="Verdana"/>
                        </a:rPr>
                        <a:t>,</a:t>
                      </a:r>
                      <a:r>
                        <a:rPr dirty="0" sz="1000" spc="-180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70" i="1">
                          <a:latin typeface="Arial"/>
                          <a:cs typeface="Arial"/>
                        </a:rPr>
                        <a:t>S</a:t>
                      </a:r>
                      <a:r>
                        <a:rPr dirty="0" baseline="-11904" sz="1050" spc="-104" i="1">
                          <a:latin typeface="Sitka Heading"/>
                          <a:cs typeface="Sitka Heading"/>
                        </a:rPr>
                        <a:t>j</a:t>
                      </a:r>
                      <a:r>
                        <a:rPr dirty="0" baseline="-11904" sz="1050" spc="-89" i="1">
                          <a:latin typeface="Sitka Heading"/>
                          <a:cs typeface="Sitka Heading"/>
                        </a:rPr>
                        <a:t> </a:t>
                      </a:r>
                      <a:r>
                        <a:rPr dirty="0" sz="1000" spc="-95" i="1">
                          <a:latin typeface="Verdana"/>
                          <a:cs typeface="Verdana"/>
                        </a:rPr>
                        <a:t>,</a:t>
                      </a:r>
                      <a:r>
                        <a:rPr dirty="0" sz="1000" spc="-175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55" i="1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1904" sz="1050" spc="-82" i="1">
                          <a:latin typeface="Sitka Heading"/>
                          <a:cs typeface="Sitka Heading"/>
                        </a:rPr>
                        <a:t>j</a:t>
                      </a:r>
                      <a:r>
                        <a:rPr dirty="0" baseline="-11904" sz="1050" spc="-89" i="1">
                          <a:latin typeface="Sitka Heading"/>
                          <a:cs typeface="Sitka Heading"/>
                        </a:rPr>
                        <a:t> </a:t>
                      </a:r>
                      <a:r>
                        <a:rPr dirty="0" sz="1000" spc="20" i="1">
                          <a:latin typeface="Georgia"/>
                          <a:cs typeface="Georgia"/>
                        </a:rPr>
                        <a:t>}</a:t>
                      </a:r>
                      <a:endParaRPr sz="10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94640">
                        <a:lnSpc>
                          <a:spcPct val="100000"/>
                        </a:lnSpc>
                      </a:pPr>
                      <a:r>
                        <a:rPr dirty="0" sz="1000" spc="-60" i="1">
                          <a:latin typeface="Arial"/>
                          <a:cs typeface="Arial"/>
                        </a:rPr>
                        <a:t>C</a:t>
                      </a:r>
                      <a:r>
                        <a:rPr dirty="0" baseline="-11904" sz="1050" spc="-89" i="1">
                          <a:latin typeface="Sitka Heading"/>
                          <a:cs typeface="Sitka Heading"/>
                        </a:rPr>
                        <a:t>j</a:t>
                      </a:r>
                      <a:r>
                        <a:rPr dirty="0" baseline="-11904" sz="1050" spc="-104" i="1">
                          <a:latin typeface="Sitka Heading"/>
                          <a:cs typeface="Sitka Heading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1000" spc="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5">
                          <a:latin typeface="Arial MT"/>
                          <a:cs typeface="Arial MT"/>
                        </a:rPr>
                        <a:t>Número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5">
                          <a:latin typeface="Arial MT"/>
                          <a:cs typeface="Arial MT"/>
                        </a:rPr>
                        <a:t>médio</a:t>
                      </a:r>
                      <a:r>
                        <a:rPr dirty="0" sz="10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0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10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5">
                          <a:latin typeface="Arial MT"/>
                          <a:cs typeface="Arial MT"/>
                        </a:rPr>
                        <a:t>clientes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conectados.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2946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904" sz="1050" i="1">
                          <a:latin typeface="Sitka Heading"/>
                          <a:cs typeface="Sitka Heading"/>
                        </a:rPr>
                        <a:t>j</a:t>
                      </a:r>
                      <a:r>
                        <a:rPr dirty="0" baseline="-11904" sz="1050" spc="-104" i="1">
                          <a:latin typeface="Sitka Heading"/>
                          <a:cs typeface="Sitka Heading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100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Throughput</a:t>
                      </a:r>
                      <a:r>
                        <a:rPr dirty="0" sz="10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total</a:t>
                      </a:r>
                      <a:r>
                        <a:rPr dirty="0" sz="10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5">
                          <a:latin typeface="Arial MT"/>
                          <a:cs typeface="Arial MT"/>
                        </a:rPr>
                        <a:t>médio</a:t>
                      </a:r>
                      <a:r>
                        <a:rPr dirty="0" sz="10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do</a:t>
                      </a:r>
                      <a:r>
                        <a:rPr dirty="0" sz="10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AP</a:t>
                      </a:r>
                      <a:r>
                        <a:rPr dirty="0" sz="10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(Mbps).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2946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70" i="1">
                          <a:latin typeface="Arial"/>
                          <a:cs typeface="Arial"/>
                        </a:rPr>
                        <a:t>S</a:t>
                      </a:r>
                      <a:r>
                        <a:rPr dirty="0" baseline="-11904" sz="1050" spc="-104" i="1">
                          <a:latin typeface="Sitka Heading"/>
                          <a:cs typeface="Sitka Heading"/>
                        </a:rPr>
                        <a:t>j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100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40">
                          <a:latin typeface="Arial MT"/>
                          <a:cs typeface="Arial MT"/>
                        </a:rPr>
                        <a:t>Intensidade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10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0">
                          <a:latin typeface="Arial MT"/>
                          <a:cs typeface="Arial MT"/>
                        </a:rPr>
                        <a:t>Sinal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5">
                          <a:latin typeface="Arial MT"/>
                          <a:cs typeface="Arial MT"/>
                        </a:rPr>
                        <a:t>física</a:t>
                      </a:r>
                      <a:r>
                        <a:rPr dirty="0" sz="10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latin typeface="Arial MT"/>
                          <a:cs typeface="Arial MT"/>
                        </a:rPr>
                        <a:t>recebida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45">
                          <a:latin typeface="Arial MT"/>
                          <a:cs typeface="Arial MT"/>
                        </a:rPr>
                        <a:t>média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 (IS</a:t>
                      </a:r>
                      <a:r>
                        <a:rPr dirty="0" sz="10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5">
                          <a:latin typeface="Arial MT"/>
                          <a:cs typeface="Arial MT"/>
                        </a:rPr>
                        <a:t>em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dBm).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2946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55" i="1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1904" sz="1050" spc="-82" i="1">
                          <a:latin typeface="Sitka Heading"/>
                          <a:cs typeface="Sitka Heading"/>
                        </a:rPr>
                        <a:t>j</a:t>
                      </a:r>
                      <a:r>
                        <a:rPr dirty="0" baseline="-11904" sz="1050" spc="-104" i="1">
                          <a:latin typeface="Sitka Heading"/>
                          <a:cs typeface="Sitka Heading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1000" spc="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45">
                          <a:latin typeface="Arial MT"/>
                          <a:cs typeface="Arial MT"/>
                        </a:rPr>
                        <a:t>Taxa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45">
                          <a:latin typeface="Arial MT"/>
                          <a:cs typeface="Arial MT"/>
                        </a:rPr>
                        <a:t>média</a:t>
                      </a:r>
                      <a:r>
                        <a:rPr dirty="0" sz="10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10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latin typeface="Arial MT"/>
                          <a:cs typeface="Arial MT"/>
                        </a:rPr>
                        <a:t>retransmissão</a:t>
                      </a:r>
                      <a:r>
                        <a:rPr dirty="0" sz="10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0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45">
                          <a:latin typeface="Arial MT"/>
                          <a:cs typeface="Arial MT"/>
                        </a:rPr>
                        <a:t>quadros</a:t>
                      </a:r>
                      <a:r>
                        <a:rPr dirty="0" sz="10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latin typeface="Arial MT"/>
                          <a:cs typeface="Arial MT"/>
                        </a:rPr>
                        <a:t>(%).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solidFill>
                      <a:srgbClr val="F0E7E9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60045" y="185386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0045" y="204365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0045" y="223344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0045" y="242323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0045" y="279538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66852" y="2712394"/>
            <a:ext cx="3688715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45">
                <a:latin typeface="Arial MT"/>
                <a:cs typeface="Arial MT"/>
              </a:rPr>
              <a:t>Variáveis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normalizadas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via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40" i="1">
                <a:latin typeface="Arial"/>
                <a:cs typeface="Arial"/>
              </a:rPr>
              <a:t>StandardScaler</a:t>
            </a:r>
            <a:r>
              <a:rPr dirty="0" sz="1000" spc="75" i="1">
                <a:latin typeface="Arial"/>
                <a:cs typeface="Arial"/>
              </a:rPr>
              <a:t> </a:t>
            </a:r>
            <a:r>
              <a:rPr dirty="0" sz="1000" spc="-20">
                <a:latin typeface="Arial MT"/>
                <a:cs typeface="Arial MT"/>
              </a:rPr>
              <a:t>(</a:t>
            </a:r>
            <a:r>
              <a:rPr dirty="0" sz="1000" spc="-20" i="1">
                <a:latin typeface="Arial"/>
                <a:cs typeface="Arial"/>
              </a:rPr>
              <a:t>z</a:t>
            </a:r>
            <a:r>
              <a:rPr dirty="0" sz="1000" spc="-195" i="1">
                <a:latin typeface="Arial"/>
                <a:cs typeface="Arial"/>
              </a:rPr>
              <a:t> </a:t>
            </a:r>
            <a:r>
              <a:rPr dirty="0" sz="1000" spc="-50">
                <a:latin typeface="Arial MT"/>
                <a:cs typeface="Arial MT"/>
              </a:rPr>
              <a:t>-</a:t>
            </a:r>
            <a:r>
              <a:rPr dirty="0" sz="1000" spc="-10">
                <a:latin typeface="Arial MT"/>
                <a:cs typeface="Arial MT"/>
              </a:rPr>
              <a:t>score).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ts val="1200"/>
              </a:lnSpc>
              <a:spcBef>
                <a:spcPts val="40"/>
              </a:spcBef>
            </a:pPr>
            <a:r>
              <a:rPr dirty="0" sz="1000" spc="-35">
                <a:latin typeface="Arial MT"/>
                <a:cs typeface="Arial MT"/>
              </a:rPr>
              <a:t>Número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ótimo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clusters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definido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em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i="1">
                <a:latin typeface="Arial"/>
                <a:cs typeface="Arial"/>
              </a:rPr>
              <a:t>K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 spc="180">
                <a:latin typeface="Arial MT"/>
                <a:cs typeface="Arial MT"/>
              </a:rPr>
              <a:t>=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4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por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análise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matemática conjunta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Método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</a:t>
            </a:r>
            <a:r>
              <a:rPr dirty="0" sz="1000" spc="-30">
                <a:latin typeface="Arial MT"/>
                <a:cs typeface="Arial MT"/>
              </a:rPr>
              <a:t> Cotovelo,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Coeficiente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Silhueta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Índice </a:t>
            </a:r>
            <a:r>
              <a:rPr dirty="0" sz="1000" spc="-45">
                <a:latin typeface="Arial MT"/>
                <a:cs typeface="Arial MT"/>
              </a:rPr>
              <a:t>Davies-</a:t>
            </a:r>
            <a:r>
              <a:rPr dirty="0" sz="1000" spc="-10">
                <a:latin typeface="Arial MT"/>
                <a:cs typeface="Arial MT"/>
              </a:rPr>
              <a:t>Bouldin.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60045" y="294753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5" name="object 15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2277" y="-1451"/>
            <a:ext cx="6985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Resultados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e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Discussões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600075"/>
          </a:xfrm>
          <a:custGeom>
            <a:avLst/>
            <a:gdLst/>
            <a:ahLst/>
            <a:cxnLst/>
            <a:rect l="l" t="t" r="r" b="b"/>
            <a:pathLst>
              <a:path w="4608195" h="600075">
                <a:moveTo>
                  <a:pt x="4607992" y="0"/>
                </a:moveTo>
                <a:lnTo>
                  <a:pt x="2303996" y="0"/>
                </a:lnTo>
                <a:lnTo>
                  <a:pt x="2303996" y="116687"/>
                </a:lnTo>
                <a:lnTo>
                  <a:pt x="4607992" y="116687"/>
                </a:lnTo>
                <a:lnTo>
                  <a:pt x="4607992" y="0"/>
                </a:lnTo>
                <a:close/>
              </a:path>
              <a:path w="4608195" h="600075">
                <a:moveTo>
                  <a:pt x="4608004" y="116700"/>
                </a:moveTo>
                <a:lnTo>
                  <a:pt x="0" y="116700"/>
                </a:lnTo>
                <a:lnTo>
                  <a:pt x="0" y="599668"/>
                </a:lnTo>
                <a:lnTo>
                  <a:pt x="4608004" y="599668"/>
                </a:lnTo>
                <a:lnTo>
                  <a:pt x="4608004" y="11670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pc="-10"/>
              <a:t>Resultados</a:t>
            </a: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800" spc="-10">
                <a:latin typeface="Arial MT"/>
                <a:cs typeface="Arial MT"/>
              </a:rPr>
              <a:t>Análise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Descritiva de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Variáveis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792" y="1061204"/>
            <a:ext cx="434594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 MT"/>
                <a:cs typeface="Arial MT"/>
              </a:rPr>
              <a:t>As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estatísticas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tendência</a:t>
            </a:r>
            <a:r>
              <a:rPr dirty="0" sz="1000" spc="-20">
                <a:latin typeface="Arial MT"/>
                <a:cs typeface="Arial MT"/>
              </a:rPr>
              <a:t> central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mostram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comportamentos</a:t>
            </a:r>
            <a:r>
              <a:rPr dirty="0" sz="1000" spc="-20">
                <a:latin typeface="Arial MT"/>
                <a:cs typeface="Arial MT"/>
              </a:rPr>
              <a:t> de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RF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tráfego </a:t>
            </a:r>
            <a:r>
              <a:rPr dirty="0" sz="1000" spc="-45">
                <a:latin typeface="Arial MT"/>
                <a:cs typeface="Arial MT"/>
              </a:rPr>
              <a:t>divergentes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entre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os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fabricantes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no</a:t>
            </a:r>
            <a:r>
              <a:rPr dirty="0" sz="1000" spc="-10">
                <a:latin typeface="Arial MT"/>
                <a:cs typeface="Arial MT"/>
              </a:rPr>
              <a:t> campus.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6492" y="1714334"/>
            <a:ext cx="4355465" cy="0"/>
          </a:xfrm>
          <a:custGeom>
            <a:avLst/>
            <a:gdLst/>
            <a:ahLst/>
            <a:cxnLst/>
            <a:rect l="l" t="t" r="r" b="b"/>
            <a:pathLst>
              <a:path w="4355465" h="0">
                <a:moveTo>
                  <a:pt x="0" y="0"/>
                </a:moveTo>
                <a:lnTo>
                  <a:pt x="4355128" y="0"/>
                </a:lnTo>
              </a:path>
            </a:pathLst>
          </a:custGeom>
          <a:ln w="60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26492" y="1617084"/>
          <a:ext cx="4431665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3560"/>
                <a:gridCol w="842010"/>
                <a:gridCol w="501015"/>
                <a:gridCol w="398144"/>
                <a:gridCol w="684530"/>
                <a:gridCol w="446404"/>
                <a:gridCol w="480695"/>
                <a:gridCol w="462279"/>
              </a:tblGrid>
              <a:tr h="82550">
                <a:tc>
                  <a:txBody>
                    <a:bodyPr/>
                    <a:lstStyle/>
                    <a:p>
                      <a:pPr marL="90805">
                        <a:lnSpc>
                          <a:spcPts val="555"/>
                        </a:lnSpc>
                      </a:pPr>
                      <a:r>
                        <a:rPr dirty="0" sz="600" spc="-10">
                          <a:latin typeface="Arial Black"/>
                          <a:cs typeface="Arial Black"/>
                        </a:rPr>
                        <a:t>Fabricante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555"/>
                        </a:lnSpc>
                      </a:pPr>
                      <a:r>
                        <a:rPr dirty="0" sz="600" spc="-10">
                          <a:latin typeface="Arial Black"/>
                          <a:cs typeface="Arial Black"/>
                        </a:rPr>
                        <a:t>Métrica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5"/>
                        </a:lnSpc>
                      </a:pPr>
                      <a:r>
                        <a:rPr dirty="0" sz="600" spc="-10">
                          <a:latin typeface="Arial Black"/>
                          <a:cs typeface="Arial Black"/>
                        </a:rPr>
                        <a:t>Registros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5"/>
                        </a:lnSpc>
                      </a:pPr>
                      <a:r>
                        <a:rPr dirty="0" sz="600" spc="-10">
                          <a:latin typeface="Arial Black"/>
                          <a:cs typeface="Arial Black"/>
                        </a:rPr>
                        <a:t>Média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5"/>
                        </a:lnSpc>
                      </a:pPr>
                      <a:r>
                        <a:rPr dirty="0" sz="600" spc="-70">
                          <a:latin typeface="Arial Black"/>
                          <a:cs typeface="Arial Black"/>
                        </a:rPr>
                        <a:t>Desvio</a:t>
                      </a:r>
                      <a:r>
                        <a:rPr dirty="0" sz="600" spc="4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600" spc="-10">
                          <a:latin typeface="Arial Black"/>
                          <a:cs typeface="Arial Black"/>
                        </a:rPr>
                        <a:t>Padrão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5"/>
                        </a:lnSpc>
                      </a:pPr>
                      <a:r>
                        <a:rPr dirty="0" sz="600" spc="-10">
                          <a:latin typeface="Arial Black"/>
                          <a:cs typeface="Arial Black"/>
                        </a:rPr>
                        <a:t>Mínimo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5"/>
                        </a:lnSpc>
                      </a:pPr>
                      <a:r>
                        <a:rPr dirty="0" sz="600" spc="-10">
                          <a:latin typeface="Arial Black"/>
                          <a:cs typeface="Arial Black"/>
                        </a:rPr>
                        <a:t>Mediana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5"/>
                        </a:lnSpc>
                      </a:pPr>
                      <a:r>
                        <a:rPr dirty="0" sz="600" spc="-10">
                          <a:latin typeface="Arial Black"/>
                          <a:cs typeface="Arial Black"/>
                        </a:rPr>
                        <a:t>Máximo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94615">
                <a:tc>
                  <a:txBody>
                    <a:bodyPr/>
                    <a:lstStyle/>
                    <a:p>
                      <a:pPr marL="90805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dirty="0" sz="600" spc="-10">
                          <a:latin typeface="Arial Black"/>
                          <a:cs typeface="Arial Black"/>
                        </a:rPr>
                        <a:t>Ruckus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dirty="0" sz="6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20">
                          <a:latin typeface="Arial MT"/>
                          <a:cs typeface="Arial MT"/>
                        </a:rPr>
                        <a:t>[dBm]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285.181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-73,88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10,04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-98,00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-75,00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600" spc="-20">
                          <a:latin typeface="Arial MT"/>
                          <a:cs typeface="Arial MT"/>
                        </a:rPr>
                        <a:t>3,00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5080"/>
                </a:tc>
              </a:tr>
              <a:tr h="90805">
                <a:tc>
                  <a:txBody>
                    <a:bodyPr/>
                    <a:lstStyle/>
                    <a:p>
                      <a:pPr marL="90805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Black"/>
                          <a:cs typeface="Arial Black"/>
                        </a:rPr>
                        <a:t>UniFi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20">
                          <a:latin typeface="Arial MT"/>
                          <a:cs typeface="Arial MT"/>
                        </a:rPr>
                        <a:t>[dBm]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36.180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-66,55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13,12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-93,00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-68,00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-21,00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</a:tr>
              <a:tr h="90805">
                <a:tc>
                  <a:txBody>
                    <a:bodyPr/>
                    <a:lstStyle/>
                    <a:p>
                      <a:pPr marL="90805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Black"/>
                          <a:cs typeface="Arial Black"/>
                        </a:rPr>
                        <a:t>Ruckus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>
                          <a:latin typeface="Arial MT"/>
                          <a:cs typeface="Arial MT"/>
                        </a:rPr>
                        <a:t>Throughput</a:t>
                      </a:r>
                      <a:r>
                        <a:rPr dirty="0" sz="60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10">
                          <a:latin typeface="Arial MT"/>
                          <a:cs typeface="Arial MT"/>
                        </a:rPr>
                        <a:t>[Mbps]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318.074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20">
                          <a:latin typeface="Arial MT"/>
                          <a:cs typeface="Arial MT"/>
                        </a:rPr>
                        <a:t>0,48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20">
                          <a:latin typeface="Arial MT"/>
                          <a:cs typeface="Arial MT"/>
                        </a:rPr>
                        <a:t>1,24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20">
                          <a:latin typeface="Arial MT"/>
                          <a:cs typeface="Arial MT"/>
                        </a:rPr>
                        <a:t>0,00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20">
                          <a:latin typeface="Arial MT"/>
                          <a:cs typeface="Arial MT"/>
                        </a:rPr>
                        <a:t>0,11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105,88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</a:tr>
              <a:tr h="90805">
                <a:tc>
                  <a:txBody>
                    <a:bodyPr/>
                    <a:lstStyle/>
                    <a:p>
                      <a:pPr marL="90805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Black"/>
                          <a:cs typeface="Arial Black"/>
                        </a:rPr>
                        <a:t>UniFi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>
                          <a:latin typeface="Arial MT"/>
                          <a:cs typeface="Arial MT"/>
                        </a:rPr>
                        <a:t>Throughput</a:t>
                      </a:r>
                      <a:r>
                        <a:rPr dirty="0" sz="60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10">
                          <a:latin typeface="Arial MT"/>
                          <a:cs typeface="Arial MT"/>
                        </a:rPr>
                        <a:t>[Mbps]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36.180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20">
                          <a:latin typeface="Arial MT"/>
                          <a:cs typeface="Arial MT"/>
                        </a:rPr>
                        <a:t>0,25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20">
                          <a:latin typeface="Arial MT"/>
                          <a:cs typeface="Arial MT"/>
                        </a:rPr>
                        <a:t>1,05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20">
                          <a:latin typeface="Arial MT"/>
                          <a:cs typeface="Arial MT"/>
                        </a:rPr>
                        <a:t>0,00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20">
                          <a:latin typeface="Arial MT"/>
                          <a:cs typeface="Arial MT"/>
                        </a:rPr>
                        <a:t>0,00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35,75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</a:tr>
              <a:tr h="90805">
                <a:tc>
                  <a:txBody>
                    <a:bodyPr/>
                    <a:lstStyle/>
                    <a:p>
                      <a:pPr marL="90805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Black"/>
                          <a:cs typeface="Arial Black"/>
                        </a:rPr>
                        <a:t>Ruckus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25">
                          <a:latin typeface="Arial MT"/>
                          <a:cs typeface="Arial MT"/>
                        </a:rPr>
                        <a:t>Retransmissões</a:t>
                      </a:r>
                      <a:r>
                        <a:rPr dirty="0" sz="60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25">
                          <a:latin typeface="Arial MT"/>
                          <a:cs typeface="Arial MT"/>
                        </a:rPr>
                        <a:t>[%]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318.074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20">
                          <a:latin typeface="Arial MT"/>
                          <a:cs typeface="Arial MT"/>
                        </a:rPr>
                        <a:t>5,70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16,11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20">
                          <a:latin typeface="Arial MT"/>
                          <a:cs typeface="Arial MT"/>
                        </a:rPr>
                        <a:t>0,00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20">
                          <a:latin typeface="Arial MT"/>
                          <a:cs typeface="Arial MT"/>
                        </a:rPr>
                        <a:t>0,00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100,00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</a:tr>
              <a:tr h="10731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Black"/>
                          <a:cs typeface="Arial Black"/>
                        </a:rPr>
                        <a:t>UniFi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00" spc="-25">
                          <a:latin typeface="Arial MT"/>
                          <a:cs typeface="Arial MT"/>
                        </a:rPr>
                        <a:t>Retransmissões</a:t>
                      </a:r>
                      <a:r>
                        <a:rPr dirty="0" sz="60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25">
                          <a:latin typeface="Arial MT"/>
                          <a:cs typeface="Arial MT"/>
                        </a:rPr>
                        <a:t>[%]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36.180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22,13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25,65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00" spc="-20">
                          <a:latin typeface="Arial MT"/>
                          <a:cs typeface="Arial MT"/>
                        </a:rPr>
                        <a:t>0,00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12,95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00" spc="-10">
                          <a:latin typeface="Arial MT"/>
                          <a:cs typeface="Arial MT"/>
                        </a:rPr>
                        <a:t>99,60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39241" y="2329924"/>
            <a:ext cx="312928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solidFill>
                  <a:srgbClr val="961F38"/>
                </a:solidFill>
                <a:latin typeface="Tahoma"/>
                <a:cs typeface="Tahoma"/>
              </a:rPr>
              <a:t>Tabela:</a:t>
            </a:r>
            <a:r>
              <a:rPr dirty="0" sz="900" spc="-2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Estatísticas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Descritivas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Consolidadas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(Ruckus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vs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UniFi)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0" name="object 10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2277" y="-1451"/>
            <a:ext cx="6985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Resultados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e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Discussões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600075"/>
          </a:xfrm>
          <a:custGeom>
            <a:avLst/>
            <a:gdLst/>
            <a:ahLst/>
            <a:cxnLst/>
            <a:rect l="l" t="t" r="r" b="b"/>
            <a:pathLst>
              <a:path w="4608195" h="600075">
                <a:moveTo>
                  <a:pt x="4607992" y="0"/>
                </a:moveTo>
                <a:lnTo>
                  <a:pt x="2303996" y="0"/>
                </a:lnTo>
                <a:lnTo>
                  <a:pt x="2303996" y="116687"/>
                </a:lnTo>
                <a:lnTo>
                  <a:pt x="4607992" y="116687"/>
                </a:lnTo>
                <a:lnTo>
                  <a:pt x="4607992" y="0"/>
                </a:lnTo>
                <a:close/>
              </a:path>
              <a:path w="4608195" h="600075">
                <a:moveTo>
                  <a:pt x="4608004" y="116700"/>
                </a:moveTo>
                <a:lnTo>
                  <a:pt x="0" y="116700"/>
                </a:lnTo>
                <a:lnTo>
                  <a:pt x="0" y="599668"/>
                </a:lnTo>
                <a:lnTo>
                  <a:pt x="4608004" y="599668"/>
                </a:lnTo>
                <a:lnTo>
                  <a:pt x="4608004" y="11670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pc="-10"/>
              <a:t>Resultados</a:t>
            </a: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800" spc="-10">
                <a:latin typeface="Arial MT"/>
                <a:cs typeface="Arial MT"/>
              </a:rPr>
              <a:t>Estudo</a:t>
            </a:r>
            <a:r>
              <a:rPr dirty="0" sz="800">
                <a:latin typeface="Arial MT"/>
                <a:cs typeface="Arial MT"/>
              </a:rPr>
              <a:t> de </a:t>
            </a:r>
            <a:r>
              <a:rPr dirty="0" sz="800" spc="-25">
                <a:latin typeface="Arial MT"/>
                <a:cs typeface="Arial MT"/>
              </a:rPr>
              <a:t>Correlações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(Spearman)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7881" y="101532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99275" y="932337"/>
            <a:ext cx="2001520" cy="19234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76835">
              <a:lnSpc>
                <a:spcPct val="100000"/>
              </a:lnSpc>
              <a:spcBef>
                <a:spcPts val="95"/>
              </a:spcBef>
            </a:pPr>
            <a:r>
              <a:rPr dirty="0" sz="1000" spc="-130">
                <a:latin typeface="Arial Black"/>
                <a:cs typeface="Arial Black"/>
              </a:rPr>
              <a:t>Correlação</a:t>
            </a:r>
            <a:r>
              <a:rPr dirty="0" sz="1000" spc="40">
                <a:latin typeface="Arial Black"/>
                <a:cs typeface="Arial Black"/>
              </a:rPr>
              <a:t> </a:t>
            </a:r>
            <a:r>
              <a:rPr dirty="0" sz="1000" spc="-105">
                <a:latin typeface="Arial Black"/>
                <a:cs typeface="Arial Black"/>
              </a:rPr>
              <a:t>Forte</a:t>
            </a:r>
            <a:r>
              <a:rPr dirty="0" sz="1000" spc="40">
                <a:latin typeface="Arial Black"/>
                <a:cs typeface="Arial Black"/>
              </a:rPr>
              <a:t> </a:t>
            </a:r>
            <a:r>
              <a:rPr dirty="0" sz="1000" spc="-65">
                <a:latin typeface="Arial Black"/>
                <a:cs typeface="Arial Black"/>
              </a:rPr>
              <a:t>IS</a:t>
            </a:r>
            <a:r>
              <a:rPr dirty="0" sz="1000" spc="40">
                <a:latin typeface="Arial Black"/>
                <a:cs typeface="Arial Black"/>
              </a:rPr>
              <a:t> </a:t>
            </a:r>
            <a:r>
              <a:rPr dirty="0" sz="1000" spc="-175">
                <a:latin typeface="Arial Black"/>
                <a:cs typeface="Arial Black"/>
              </a:rPr>
              <a:t>x</a:t>
            </a:r>
            <a:r>
              <a:rPr dirty="0" sz="1000" spc="40">
                <a:latin typeface="Arial Black"/>
                <a:cs typeface="Arial Black"/>
              </a:rPr>
              <a:t> </a:t>
            </a:r>
            <a:r>
              <a:rPr dirty="0" sz="1000" spc="-20">
                <a:latin typeface="Arial Black"/>
                <a:cs typeface="Arial Black"/>
              </a:rPr>
              <a:t>RSSI </a:t>
            </a:r>
            <a:r>
              <a:rPr dirty="0" sz="1000" spc="-35">
                <a:latin typeface="Arial Black"/>
                <a:cs typeface="Arial Black"/>
              </a:rPr>
              <a:t>(UniFi)</a:t>
            </a:r>
            <a:r>
              <a:rPr dirty="0" sz="1000" spc="-35">
                <a:latin typeface="Arial MT"/>
                <a:cs typeface="Arial MT"/>
              </a:rPr>
              <a:t>: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</a:t>
            </a:r>
            <a:r>
              <a:rPr dirty="0" sz="1000" i="1">
                <a:latin typeface="Arial"/>
                <a:cs typeface="Arial"/>
              </a:rPr>
              <a:t>r</a:t>
            </a:r>
            <a:r>
              <a:rPr dirty="0" baseline="-11904" sz="1050" i="1">
                <a:latin typeface="Sitka Heading"/>
                <a:cs typeface="Sitka Heading"/>
              </a:rPr>
              <a:t>s</a:t>
            </a:r>
            <a:r>
              <a:rPr dirty="0" baseline="-11904" sz="1050" spc="240" i="1">
                <a:latin typeface="Sitka Heading"/>
                <a:cs typeface="Sitka Heading"/>
              </a:rPr>
              <a:t> </a:t>
            </a:r>
            <a:r>
              <a:rPr dirty="0" sz="1000" spc="180">
                <a:latin typeface="Arial MT"/>
                <a:cs typeface="Arial MT"/>
              </a:rPr>
              <a:t>=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80">
                <a:latin typeface="Arial MT"/>
                <a:cs typeface="Arial MT"/>
              </a:rPr>
              <a:t>0</a:t>
            </a:r>
            <a:r>
              <a:rPr dirty="0" sz="1000" spc="-80" i="1">
                <a:latin typeface="Verdana"/>
                <a:cs typeface="Verdana"/>
              </a:rPr>
              <a:t>,</a:t>
            </a:r>
            <a:r>
              <a:rPr dirty="0" sz="1000" spc="-190" i="1">
                <a:latin typeface="Verdana"/>
                <a:cs typeface="Verdana"/>
              </a:rPr>
              <a:t> </a:t>
            </a:r>
            <a:r>
              <a:rPr dirty="0" sz="1000">
                <a:latin typeface="Arial MT"/>
                <a:cs typeface="Arial MT"/>
              </a:rPr>
              <a:t>70),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refletindo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a </a:t>
            </a:r>
            <a:r>
              <a:rPr dirty="0" sz="1000" spc="-55">
                <a:latin typeface="Arial MT"/>
                <a:cs typeface="Arial MT"/>
              </a:rPr>
              <a:t>dependência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física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direta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da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relação </a:t>
            </a:r>
            <a:r>
              <a:rPr dirty="0" sz="1000" spc="-45">
                <a:latin typeface="Arial MT"/>
                <a:cs typeface="Arial MT"/>
              </a:rPr>
              <a:t>sinal-</a:t>
            </a:r>
            <a:r>
              <a:rPr dirty="0" sz="1000" spc="-10">
                <a:latin typeface="Arial MT"/>
                <a:cs typeface="Arial MT"/>
              </a:rPr>
              <a:t>ruído.</a:t>
            </a:r>
            <a:endParaRPr sz="1000">
              <a:latin typeface="Arial MT"/>
              <a:cs typeface="Arial MT"/>
            </a:endParaRPr>
          </a:p>
          <a:p>
            <a:pPr algn="just" marL="38100" marR="30480">
              <a:lnSpc>
                <a:spcPct val="100000"/>
              </a:lnSpc>
              <a:spcBef>
                <a:spcPts val="280"/>
              </a:spcBef>
            </a:pPr>
            <a:r>
              <a:rPr dirty="0" sz="1000" spc="-125">
                <a:latin typeface="Arial Black"/>
                <a:cs typeface="Arial Black"/>
              </a:rPr>
              <a:t>Correlação</a:t>
            </a:r>
            <a:r>
              <a:rPr dirty="0" sz="1000" spc="10">
                <a:latin typeface="Arial Black"/>
                <a:cs typeface="Arial Black"/>
              </a:rPr>
              <a:t> </a:t>
            </a:r>
            <a:r>
              <a:rPr dirty="0" sz="1000" spc="-95">
                <a:latin typeface="Arial Black"/>
                <a:cs typeface="Arial Black"/>
              </a:rPr>
              <a:t>Nula</a:t>
            </a:r>
            <a:r>
              <a:rPr dirty="0" sz="1000" spc="10">
                <a:latin typeface="Arial Black"/>
                <a:cs typeface="Arial Black"/>
              </a:rPr>
              <a:t> </a:t>
            </a:r>
            <a:r>
              <a:rPr dirty="0" sz="1000" spc="-90">
                <a:latin typeface="Arial Black"/>
                <a:cs typeface="Arial Black"/>
              </a:rPr>
              <a:t>IS</a:t>
            </a:r>
            <a:r>
              <a:rPr dirty="0" sz="1000" spc="10">
                <a:latin typeface="Arial Black"/>
                <a:cs typeface="Arial Black"/>
              </a:rPr>
              <a:t> </a:t>
            </a:r>
            <a:r>
              <a:rPr dirty="0" sz="1000" spc="-170">
                <a:latin typeface="Arial Black"/>
                <a:cs typeface="Arial Black"/>
              </a:rPr>
              <a:t>x</a:t>
            </a:r>
            <a:r>
              <a:rPr dirty="0" sz="1000" spc="10">
                <a:latin typeface="Arial Black"/>
                <a:cs typeface="Arial Black"/>
              </a:rPr>
              <a:t> </a:t>
            </a:r>
            <a:r>
              <a:rPr dirty="0" sz="1000" spc="-90">
                <a:latin typeface="Arial Black"/>
                <a:cs typeface="Arial Black"/>
              </a:rPr>
              <a:t>Throughput</a:t>
            </a:r>
            <a:r>
              <a:rPr dirty="0" sz="1000" spc="-50">
                <a:latin typeface="Arial Black"/>
                <a:cs typeface="Arial Black"/>
              </a:rPr>
              <a:t> </a:t>
            </a:r>
            <a:r>
              <a:rPr dirty="0" sz="1000" spc="-90">
                <a:latin typeface="Arial Black"/>
                <a:cs typeface="Arial Black"/>
              </a:rPr>
              <a:t>(Ruckus)</a:t>
            </a:r>
            <a:r>
              <a:rPr dirty="0" sz="1000" spc="-90">
                <a:latin typeface="Arial MT"/>
                <a:cs typeface="Arial MT"/>
              </a:rPr>
              <a:t>:</a:t>
            </a:r>
            <a:r>
              <a:rPr dirty="0" sz="1000" spc="160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(</a:t>
            </a:r>
            <a:r>
              <a:rPr dirty="0" sz="1000" spc="10" i="1">
                <a:latin typeface="Arial"/>
                <a:cs typeface="Arial"/>
              </a:rPr>
              <a:t>r</a:t>
            </a:r>
            <a:r>
              <a:rPr dirty="0" baseline="-11904" sz="1050" spc="15" i="1">
                <a:latin typeface="Sitka Heading"/>
                <a:cs typeface="Sitka Heading"/>
              </a:rPr>
              <a:t>s</a:t>
            </a:r>
            <a:r>
              <a:rPr dirty="0" baseline="-11904" sz="1050" spc="307" i="1">
                <a:latin typeface="Sitka Heading"/>
                <a:cs typeface="Sitka Heading"/>
              </a:rPr>
              <a:t> </a:t>
            </a:r>
            <a:r>
              <a:rPr dirty="0" sz="1000" spc="180">
                <a:latin typeface="Arial MT"/>
                <a:cs typeface="Arial MT"/>
              </a:rPr>
              <a:t>=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0</a:t>
            </a:r>
            <a:r>
              <a:rPr dirty="0" sz="1000" spc="-75" i="1">
                <a:latin typeface="Verdana"/>
                <a:cs typeface="Verdana"/>
              </a:rPr>
              <a:t>,</a:t>
            </a:r>
            <a:r>
              <a:rPr dirty="0" sz="1000" spc="-190" i="1">
                <a:latin typeface="Verdana"/>
                <a:cs typeface="Verdana"/>
              </a:rPr>
              <a:t> </a:t>
            </a:r>
            <a:r>
              <a:rPr dirty="0" sz="1000" spc="-35">
                <a:latin typeface="Arial MT"/>
                <a:cs typeface="Arial MT"/>
              </a:rPr>
              <a:t>0463),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indicando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desacoplamento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de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vazão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5">
                <a:latin typeface="Arial MT"/>
                <a:cs typeface="Arial MT"/>
              </a:rPr>
              <a:t>útil.</a:t>
            </a:r>
            <a:endParaRPr sz="1000">
              <a:latin typeface="Arial MT"/>
              <a:cs typeface="Arial MT"/>
            </a:endParaRPr>
          </a:p>
          <a:p>
            <a:pPr marL="38100" marR="40640">
              <a:lnSpc>
                <a:spcPct val="100000"/>
              </a:lnSpc>
              <a:spcBef>
                <a:spcPts val="285"/>
              </a:spcBef>
            </a:pPr>
            <a:r>
              <a:rPr dirty="0" sz="1000" spc="-130">
                <a:latin typeface="Arial Black"/>
                <a:cs typeface="Arial Black"/>
              </a:rPr>
              <a:t>Física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>
                <a:latin typeface="Arial Black"/>
                <a:cs typeface="Arial Black"/>
              </a:rPr>
              <a:t>CSMA/CA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Clientes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ociosos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contenção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airtime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impedem </a:t>
            </a:r>
            <a:r>
              <a:rPr dirty="0" sz="1000" spc="-40">
                <a:latin typeface="Arial MT"/>
                <a:cs typeface="Arial MT"/>
              </a:rPr>
              <a:t>que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um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sinal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excelente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resulte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em maior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vazão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automática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na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camada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aplicação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  <a:hlinkClick r:id="rId3" action="ppaction://hlinksldjump"/>
              </a:rPr>
              <a:t>(BIANCHI,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  <a:hlinkClick r:id="rId3" action="ppaction://hlinksldjump"/>
              </a:rPr>
              <a:t>2000).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7881" y="166061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7881" y="215405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72470" y="1314302"/>
            <a:ext cx="2113026" cy="90091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382964" y="2300041"/>
            <a:ext cx="210375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961F38"/>
                </a:solidFill>
                <a:latin typeface="Tahoma"/>
                <a:cs typeface="Tahoma"/>
              </a:rPr>
              <a:t>Figura:</a:t>
            </a:r>
            <a:r>
              <a:rPr dirty="0" sz="900" spc="-1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Matriz</a:t>
            </a:r>
            <a:r>
              <a:rPr dirty="0" sz="900" spc="-10">
                <a:latin typeface="Tahoma"/>
                <a:cs typeface="Tahoma"/>
              </a:rPr>
              <a:t> de </a:t>
            </a:r>
            <a:r>
              <a:rPr dirty="0" sz="900" spc="-20">
                <a:latin typeface="Tahoma"/>
                <a:cs typeface="Tahoma"/>
              </a:rPr>
              <a:t>Correlação</a:t>
            </a:r>
            <a:r>
              <a:rPr dirty="0" sz="900" spc="-10">
                <a:latin typeface="Tahoma"/>
                <a:cs typeface="Tahoma"/>
              </a:rPr>
              <a:t> de Spearman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2" name="object 12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2277" y="-1451"/>
            <a:ext cx="6985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Resultados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e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Discussões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600075"/>
          </a:xfrm>
          <a:custGeom>
            <a:avLst/>
            <a:gdLst/>
            <a:ahLst/>
            <a:cxnLst/>
            <a:rect l="l" t="t" r="r" b="b"/>
            <a:pathLst>
              <a:path w="4608195" h="600075">
                <a:moveTo>
                  <a:pt x="4607992" y="0"/>
                </a:moveTo>
                <a:lnTo>
                  <a:pt x="2303996" y="0"/>
                </a:lnTo>
                <a:lnTo>
                  <a:pt x="2303996" y="116687"/>
                </a:lnTo>
                <a:lnTo>
                  <a:pt x="4607992" y="116687"/>
                </a:lnTo>
                <a:lnTo>
                  <a:pt x="4607992" y="0"/>
                </a:lnTo>
                <a:close/>
              </a:path>
              <a:path w="4608195" h="600075">
                <a:moveTo>
                  <a:pt x="4608004" y="116700"/>
                </a:moveTo>
                <a:lnTo>
                  <a:pt x="0" y="116700"/>
                </a:lnTo>
                <a:lnTo>
                  <a:pt x="0" y="599668"/>
                </a:lnTo>
                <a:lnTo>
                  <a:pt x="4608004" y="599668"/>
                </a:lnTo>
                <a:lnTo>
                  <a:pt x="4608004" y="11670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pc="-10"/>
              <a:t>Resultados</a:t>
            </a: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800" spc="-25">
                <a:latin typeface="Arial MT"/>
                <a:cs typeface="Arial MT"/>
              </a:rPr>
              <a:t>Testes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</a:t>
            </a:r>
            <a:r>
              <a:rPr dirty="0" sz="800" spc="-10">
                <a:latin typeface="Arial MT"/>
                <a:cs typeface="Arial MT"/>
              </a:rPr>
              <a:t> Hipótese Estatísticos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045" y="127868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6852" y="1195697"/>
            <a:ext cx="4097654" cy="1316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17145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latin typeface="Arial Black"/>
                <a:cs typeface="Arial Black"/>
              </a:rPr>
              <a:t>Mann-Whitney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45">
                <a:latin typeface="Arial Black"/>
                <a:cs typeface="Arial Black"/>
              </a:rPr>
              <a:t>U</a:t>
            </a:r>
            <a:r>
              <a:rPr dirty="0" sz="1000" spc="-45">
                <a:latin typeface="Arial MT"/>
                <a:cs typeface="Arial MT"/>
              </a:rPr>
              <a:t>: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Rejeitou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a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hipótese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nula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de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igualdade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de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distribuição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de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Intensidade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de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Sinal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(IS)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110">
                <a:latin typeface="Arial MT"/>
                <a:cs typeface="Arial MT"/>
              </a:rPr>
              <a:t>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Retransmissões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entre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Ruckus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-110">
                <a:latin typeface="Arial MT"/>
                <a:cs typeface="Arial MT"/>
              </a:rPr>
              <a:t>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UniFi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</a:t>
            </a:r>
            <a:r>
              <a:rPr dirty="0" sz="1000" i="1">
                <a:latin typeface="Arial"/>
                <a:cs typeface="Arial"/>
              </a:rPr>
              <a:t>p</a:t>
            </a:r>
            <a:r>
              <a:rPr dirty="0" sz="1000" spc="40" i="1">
                <a:latin typeface="Arial"/>
                <a:cs typeface="Arial"/>
              </a:rPr>
              <a:t> </a:t>
            </a:r>
            <a:r>
              <a:rPr dirty="0" sz="1000" spc="-45" i="1">
                <a:latin typeface="Verdana"/>
                <a:cs typeface="Verdana"/>
              </a:rPr>
              <a:t>&lt;</a:t>
            </a:r>
            <a:r>
              <a:rPr dirty="0" sz="1000" spc="-75" i="1">
                <a:latin typeface="Verdana"/>
                <a:cs typeface="Verdana"/>
              </a:rPr>
              <a:t> </a:t>
            </a:r>
            <a:r>
              <a:rPr dirty="0" sz="1000" spc="-75">
                <a:latin typeface="Arial MT"/>
                <a:cs typeface="Arial MT"/>
              </a:rPr>
              <a:t>0</a:t>
            </a:r>
            <a:r>
              <a:rPr dirty="0" sz="1000" spc="-75" i="1">
                <a:latin typeface="Verdana"/>
                <a:cs typeface="Verdana"/>
              </a:rPr>
              <a:t>,</a:t>
            </a:r>
            <a:r>
              <a:rPr dirty="0" sz="1000" spc="-190" i="1">
                <a:latin typeface="Verdana"/>
                <a:cs typeface="Verdana"/>
              </a:rPr>
              <a:t> </a:t>
            </a:r>
            <a:r>
              <a:rPr dirty="0" sz="1000" spc="-25">
                <a:latin typeface="Arial MT"/>
                <a:cs typeface="Arial MT"/>
              </a:rPr>
              <a:t>05),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provando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comportamento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assimétrico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de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rede.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85"/>
              </a:spcBef>
            </a:pPr>
            <a:r>
              <a:rPr dirty="0" sz="1000" spc="-90">
                <a:latin typeface="Arial Black"/>
                <a:cs typeface="Arial Black"/>
              </a:rPr>
              <a:t>Kruskal-</a:t>
            </a:r>
            <a:r>
              <a:rPr dirty="0" sz="1000" spc="-100">
                <a:latin typeface="Arial Black"/>
                <a:cs typeface="Arial Black"/>
              </a:rPr>
              <a:t>Wallis</a:t>
            </a:r>
            <a:r>
              <a:rPr dirty="0" sz="1000" spc="-100">
                <a:latin typeface="Arial MT"/>
                <a:cs typeface="Arial MT"/>
              </a:rPr>
              <a:t>:</a:t>
            </a:r>
            <a:r>
              <a:rPr dirty="0" sz="1000" spc="8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Comprovou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que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rede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Ruckus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opera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com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taxas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de </a:t>
            </a:r>
            <a:r>
              <a:rPr dirty="0" sz="1000" spc="-50">
                <a:latin typeface="Arial MT"/>
                <a:cs typeface="Arial MT"/>
              </a:rPr>
              <a:t>retransmissão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significativamente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inferiores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na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banda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saturada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2,4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GHz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em </a:t>
            </a:r>
            <a:r>
              <a:rPr dirty="0" sz="1000" spc="-45">
                <a:latin typeface="Arial MT"/>
                <a:cs typeface="Arial MT"/>
              </a:rPr>
              <a:t>relação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à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UniFi,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mesmo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sob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densidade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similar.</a:t>
            </a:r>
            <a:endParaRPr sz="1000">
              <a:latin typeface="Arial MT"/>
              <a:cs typeface="Arial MT"/>
            </a:endParaRPr>
          </a:p>
          <a:p>
            <a:pPr marL="12700" marR="90805">
              <a:lnSpc>
                <a:spcPct val="100000"/>
              </a:lnSpc>
              <a:spcBef>
                <a:spcPts val="285"/>
              </a:spcBef>
            </a:pPr>
            <a:r>
              <a:rPr dirty="0" sz="1000" spc="-105">
                <a:latin typeface="Arial Black"/>
                <a:cs typeface="Arial Black"/>
              </a:rPr>
              <a:t>Implicação</a:t>
            </a:r>
            <a:r>
              <a:rPr dirty="0" sz="1000" spc="-105">
                <a:latin typeface="Arial MT"/>
                <a:cs typeface="Arial MT"/>
              </a:rPr>
              <a:t>:</a:t>
            </a:r>
            <a:r>
              <a:rPr dirty="0" sz="1000" spc="10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infraestrutura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física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antenas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inteligentes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Ruckus </a:t>
            </a:r>
            <a:r>
              <a:rPr dirty="0" sz="1000" spc="-30">
                <a:latin typeface="Arial MT"/>
                <a:cs typeface="Arial MT"/>
              </a:rPr>
              <a:t>(tecnologia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filtragem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espacial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dinâmica)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provê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maior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resiliência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rádio.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0045" y="177213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0045" y="226557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0" name="object 10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2277" y="-1451"/>
            <a:ext cx="6985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Resultados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e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Discussões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600075"/>
          </a:xfrm>
          <a:custGeom>
            <a:avLst/>
            <a:gdLst/>
            <a:ahLst/>
            <a:cxnLst/>
            <a:rect l="l" t="t" r="r" b="b"/>
            <a:pathLst>
              <a:path w="4608195" h="600075">
                <a:moveTo>
                  <a:pt x="4607992" y="0"/>
                </a:moveTo>
                <a:lnTo>
                  <a:pt x="2303996" y="0"/>
                </a:lnTo>
                <a:lnTo>
                  <a:pt x="2303996" y="116687"/>
                </a:lnTo>
                <a:lnTo>
                  <a:pt x="4607992" y="116687"/>
                </a:lnTo>
                <a:lnTo>
                  <a:pt x="4607992" y="0"/>
                </a:lnTo>
                <a:close/>
              </a:path>
              <a:path w="4608195" h="600075">
                <a:moveTo>
                  <a:pt x="4608004" y="116700"/>
                </a:moveTo>
                <a:lnTo>
                  <a:pt x="0" y="116700"/>
                </a:lnTo>
                <a:lnTo>
                  <a:pt x="0" y="599668"/>
                </a:lnTo>
                <a:lnTo>
                  <a:pt x="4608004" y="599668"/>
                </a:lnTo>
                <a:lnTo>
                  <a:pt x="4608004" y="11670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pc="-10"/>
              <a:t>Resultados</a:t>
            </a: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800" spc="-20">
                <a:latin typeface="Arial MT"/>
                <a:cs typeface="Arial MT"/>
              </a:rPr>
              <a:t>Classificação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30">
                <a:latin typeface="Arial MT"/>
                <a:cs typeface="Arial MT"/>
              </a:rPr>
              <a:t>Gargalos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(Limiares)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792" y="696282"/>
            <a:ext cx="422021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distribuição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dos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gargalos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heurísticos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nas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amostras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revela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os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principais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vetores </a:t>
            </a:r>
            <a:r>
              <a:rPr dirty="0" sz="1000" spc="-20">
                <a:latin typeface="Arial MT"/>
                <a:cs typeface="Arial MT"/>
              </a:rPr>
              <a:t>limitantes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cada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rede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corporativa.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3363" y="1240999"/>
            <a:ext cx="2602927" cy="15354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3773" y="2877294"/>
            <a:ext cx="355981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961F38"/>
                </a:solidFill>
                <a:latin typeface="Tahoma"/>
                <a:cs typeface="Tahoma"/>
              </a:rPr>
              <a:t>Figura:</a:t>
            </a:r>
            <a:r>
              <a:rPr dirty="0" sz="900" spc="-3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Distribuição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Comparativa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Gargalos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Físicos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de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Infraestrutura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9" name="object 9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2277" y="-1451"/>
            <a:ext cx="6985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Resultados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e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Discussões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600075"/>
          </a:xfrm>
          <a:custGeom>
            <a:avLst/>
            <a:gdLst/>
            <a:ahLst/>
            <a:cxnLst/>
            <a:rect l="l" t="t" r="r" b="b"/>
            <a:pathLst>
              <a:path w="4608195" h="600075">
                <a:moveTo>
                  <a:pt x="4607992" y="0"/>
                </a:moveTo>
                <a:lnTo>
                  <a:pt x="2303996" y="0"/>
                </a:lnTo>
                <a:lnTo>
                  <a:pt x="2303996" y="116687"/>
                </a:lnTo>
                <a:lnTo>
                  <a:pt x="4607992" y="116687"/>
                </a:lnTo>
                <a:lnTo>
                  <a:pt x="4607992" y="0"/>
                </a:lnTo>
                <a:close/>
              </a:path>
              <a:path w="4608195" h="600075">
                <a:moveTo>
                  <a:pt x="4608004" y="116700"/>
                </a:moveTo>
                <a:lnTo>
                  <a:pt x="0" y="116700"/>
                </a:lnTo>
                <a:lnTo>
                  <a:pt x="0" y="599668"/>
                </a:lnTo>
                <a:lnTo>
                  <a:pt x="4608004" y="599668"/>
                </a:lnTo>
                <a:lnTo>
                  <a:pt x="4608004" y="11670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pc="-10"/>
              <a:t>Resultados</a:t>
            </a: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800">
                <a:latin typeface="Arial MT"/>
                <a:cs typeface="Arial MT"/>
              </a:rPr>
              <a:t>Agrupamento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K-</a:t>
            </a:r>
            <a:r>
              <a:rPr dirty="0" sz="800">
                <a:latin typeface="Arial MT"/>
                <a:cs typeface="Arial MT"/>
              </a:rPr>
              <a:t>Means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–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Perfis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Ruckus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7881" y="115478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24675" y="1071796"/>
            <a:ext cx="1839595" cy="1581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1435">
              <a:lnSpc>
                <a:spcPct val="100000"/>
              </a:lnSpc>
              <a:spcBef>
                <a:spcPts val="95"/>
              </a:spcBef>
            </a:pPr>
            <a:r>
              <a:rPr dirty="0" sz="1000" spc="-100">
                <a:latin typeface="Arial Black"/>
                <a:cs typeface="Arial Black"/>
              </a:rPr>
              <a:t>Grupo</a:t>
            </a:r>
            <a:r>
              <a:rPr dirty="0" sz="1000" spc="15">
                <a:latin typeface="Arial Black"/>
                <a:cs typeface="Arial Black"/>
              </a:rPr>
              <a:t> </a:t>
            </a:r>
            <a:r>
              <a:rPr dirty="0" sz="1000">
                <a:latin typeface="Arial Black"/>
                <a:cs typeface="Arial Black"/>
              </a:rPr>
              <a:t>A</a:t>
            </a:r>
            <a:r>
              <a:rPr dirty="0" sz="1000" spc="-40">
                <a:latin typeface="Arial Black"/>
                <a:cs typeface="Arial Black"/>
              </a:rPr>
              <a:t> (Muito</a:t>
            </a:r>
            <a:r>
              <a:rPr dirty="0" sz="1000" spc="-10">
                <a:latin typeface="Arial Black"/>
                <a:cs typeface="Arial Black"/>
              </a:rPr>
              <a:t> </a:t>
            </a:r>
            <a:r>
              <a:rPr dirty="0" sz="1000" spc="-25">
                <a:latin typeface="Arial Black"/>
                <a:cs typeface="Arial Black"/>
              </a:rPr>
              <a:t>Carregado)</a:t>
            </a:r>
            <a:r>
              <a:rPr dirty="0" sz="1000" spc="-25">
                <a:latin typeface="Arial MT"/>
                <a:cs typeface="Arial MT"/>
              </a:rPr>
              <a:t>: </a:t>
            </a:r>
            <a:r>
              <a:rPr dirty="0" sz="1000">
                <a:latin typeface="Arial MT"/>
                <a:cs typeface="Arial MT"/>
              </a:rPr>
              <a:t>Alta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densidade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(23.1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clientes)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e </a:t>
            </a:r>
            <a:r>
              <a:rPr dirty="0" sz="1000" spc="-20">
                <a:latin typeface="Arial MT"/>
                <a:cs typeface="Arial MT"/>
              </a:rPr>
              <a:t>tráfego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elevado,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mas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mantendo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a </a:t>
            </a:r>
            <a:r>
              <a:rPr dirty="0" sz="1000" spc="-40">
                <a:latin typeface="Arial MT"/>
                <a:cs typeface="Arial MT"/>
              </a:rPr>
              <a:t>menor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retransmissão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(3.98%)</a:t>
            </a:r>
            <a:r>
              <a:rPr dirty="0" sz="1000" spc="-25">
                <a:latin typeface="Arial MT"/>
                <a:cs typeface="Arial MT"/>
              </a:rPr>
              <a:t> por </a:t>
            </a:r>
            <a:r>
              <a:rPr dirty="0" sz="1000" spc="-40">
                <a:latin typeface="Arial MT"/>
                <a:cs typeface="Arial MT"/>
              </a:rPr>
              <a:t>direcionamento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RF.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75"/>
              </a:spcBef>
            </a:pPr>
            <a:r>
              <a:rPr dirty="0" sz="1000" spc="-100">
                <a:latin typeface="Arial Black"/>
                <a:cs typeface="Arial Black"/>
              </a:rPr>
              <a:t>Grupo</a:t>
            </a:r>
            <a:r>
              <a:rPr dirty="0" sz="1000" spc="25">
                <a:latin typeface="Arial Black"/>
                <a:cs typeface="Arial Black"/>
              </a:rPr>
              <a:t> </a:t>
            </a:r>
            <a:r>
              <a:rPr dirty="0" sz="1000">
                <a:latin typeface="Arial Black"/>
                <a:cs typeface="Arial Black"/>
              </a:rPr>
              <a:t>D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85">
                <a:latin typeface="Arial Black"/>
                <a:cs typeface="Arial Black"/>
              </a:rPr>
              <a:t>(Sinal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10">
                <a:latin typeface="Arial Black"/>
                <a:cs typeface="Arial Black"/>
              </a:rPr>
              <a:t>Degradado)</a:t>
            </a:r>
            <a:r>
              <a:rPr dirty="0" sz="1000" spc="-10">
                <a:latin typeface="Arial MT"/>
                <a:cs typeface="Arial MT"/>
              </a:rPr>
              <a:t>: </a:t>
            </a:r>
            <a:r>
              <a:rPr dirty="0" sz="1000" spc="-60">
                <a:latin typeface="Arial MT"/>
                <a:cs typeface="Arial MT"/>
              </a:rPr>
              <a:t>Rádios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com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IS </a:t>
            </a:r>
            <a:r>
              <a:rPr dirty="0" sz="1000" spc="-45">
                <a:latin typeface="Arial MT"/>
                <a:cs typeface="Arial MT"/>
              </a:rPr>
              <a:t>atenuada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(-</a:t>
            </a:r>
            <a:r>
              <a:rPr dirty="0" sz="1000" spc="-20">
                <a:latin typeface="Arial MT"/>
                <a:cs typeface="Arial MT"/>
              </a:rPr>
              <a:t>75.9 </a:t>
            </a:r>
            <a:r>
              <a:rPr dirty="0" sz="1000">
                <a:latin typeface="Arial MT"/>
                <a:cs typeface="Arial MT"/>
              </a:rPr>
              <a:t>dBm),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menor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vazão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maior</a:t>
            </a:r>
            <a:r>
              <a:rPr dirty="0" sz="1000" spc="-30">
                <a:latin typeface="Arial MT"/>
                <a:cs typeface="Arial MT"/>
              </a:rPr>
              <a:t> perda </a:t>
            </a:r>
            <a:r>
              <a:rPr dirty="0" sz="1000" spc="-25">
                <a:latin typeface="Arial MT"/>
                <a:cs typeface="Arial MT"/>
              </a:rPr>
              <a:t>lógica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(11.24%).</a:t>
            </a:r>
            <a:r>
              <a:rPr dirty="0" sz="1000" spc="6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Caracteriza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o Gargalo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G1.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7881" y="195190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95054" y="1174094"/>
            <a:ext cx="1881049" cy="110412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86634" y="2363706"/>
            <a:ext cx="209677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961F38"/>
                </a:solidFill>
                <a:latin typeface="Tahoma"/>
                <a:cs typeface="Tahoma"/>
              </a:rPr>
              <a:t>Figura:</a:t>
            </a:r>
            <a:r>
              <a:rPr dirty="0" sz="900" spc="-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Perfis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de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APs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Ruckus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(Centróides)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1" name="object 11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2277" y="-1451"/>
            <a:ext cx="6985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Resultados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e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Discussões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600075"/>
          </a:xfrm>
          <a:custGeom>
            <a:avLst/>
            <a:gdLst/>
            <a:ahLst/>
            <a:cxnLst/>
            <a:rect l="l" t="t" r="r" b="b"/>
            <a:pathLst>
              <a:path w="4608195" h="600075">
                <a:moveTo>
                  <a:pt x="4607992" y="0"/>
                </a:moveTo>
                <a:lnTo>
                  <a:pt x="2303996" y="0"/>
                </a:lnTo>
                <a:lnTo>
                  <a:pt x="2303996" y="116687"/>
                </a:lnTo>
                <a:lnTo>
                  <a:pt x="4607992" y="116687"/>
                </a:lnTo>
                <a:lnTo>
                  <a:pt x="4607992" y="0"/>
                </a:lnTo>
                <a:close/>
              </a:path>
              <a:path w="4608195" h="600075">
                <a:moveTo>
                  <a:pt x="4608004" y="116700"/>
                </a:moveTo>
                <a:lnTo>
                  <a:pt x="0" y="116700"/>
                </a:lnTo>
                <a:lnTo>
                  <a:pt x="0" y="599668"/>
                </a:lnTo>
                <a:lnTo>
                  <a:pt x="4608004" y="599668"/>
                </a:lnTo>
                <a:lnTo>
                  <a:pt x="4608004" y="11670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pc="-10"/>
              <a:t>Resultados</a:t>
            </a: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800">
                <a:latin typeface="Arial MT"/>
                <a:cs typeface="Arial MT"/>
              </a:rPr>
              <a:t>Agrupamento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K-</a:t>
            </a:r>
            <a:r>
              <a:rPr dirty="0" sz="800">
                <a:latin typeface="Arial MT"/>
                <a:cs typeface="Arial MT"/>
              </a:rPr>
              <a:t>Means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–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Perfis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UniFi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7881" y="115478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24675" y="1071796"/>
            <a:ext cx="1946275" cy="1581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100">
                <a:latin typeface="Arial Black"/>
                <a:cs typeface="Arial Black"/>
              </a:rPr>
              <a:t>Grupo</a:t>
            </a:r>
            <a:r>
              <a:rPr dirty="0" sz="1000" spc="15">
                <a:latin typeface="Arial Black"/>
                <a:cs typeface="Arial Black"/>
              </a:rPr>
              <a:t> </a:t>
            </a:r>
            <a:r>
              <a:rPr dirty="0" sz="1000">
                <a:latin typeface="Arial Black"/>
                <a:cs typeface="Arial Black"/>
              </a:rPr>
              <a:t>A</a:t>
            </a:r>
            <a:r>
              <a:rPr dirty="0" sz="1000" spc="-55">
                <a:latin typeface="Arial Black"/>
                <a:cs typeface="Arial Black"/>
              </a:rPr>
              <a:t> </a:t>
            </a:r>
            <a:r>
              <a:rPr dirty="0" sz="1000" spc="-40">
                <a:latin typeface="Arial Black"/>
                <a:cs typeface="Arial Black"/>
              </a:rPr>
              <a:t>(Muito</a:t>
            </a:r>
            <a:r>
              <a:rPr dirty="0" sz="1000" spc="-20">
                <a:latin typeface="Arial Black"/>
                <a:cs typeface="Arial Black"/>
              </a:rPr>
              <a:t> </a:t>
            </a:r>
            <a:r>
              <a:rPr dirty="0" sz="1000" spc="-90">
                <a:latin typeface="Arial Black"/>
                <a:cs typeface="Arial Black"/>
              </a:rPr>
              <a:t>Carregado)</a:t>
            </a:r>
            <a:r>
              <a:rPr dirty="0" sz="1000" spc="-90">
                <a:latin typeface="Arial MT"/>
                <a:cs typeface="Arial MT"/>
              </a:rPr>
              <a:t>:</a:t>
            </a:r>
            <a:r>
              <a:rPr dirty="0" sz="1000" spc="10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Sob</a:t>
            </a:r>
            <a:endParaRPr sz="1000">
              <a:latin typeface="Arial MT"/>
              <a:cs typeface="Arial MT"/>
            </a:endParaRPr>
          </a:p>
          <a:p>
            <a:pPr marL="12700" marR="142240">
              <a:lnSpc>
                <a:spcPts val="1200"/>
              </a:lnSpc>
              <a:spcBef>
                <a:spcPts val="40"/>
              </a:spcBef>
            </a:pPr>
            <a:r>
              <a:rPr dirty="0" sz="1000" spc="-20">
                <a:latin typeface="Arial MT"/>
                <a:cs typeface="Arial MT"/>
              </a:rPr>
              <a:t>6.25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clientes,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retransmissões </a:t>
            </a:r>
            <a:r>
              <a:rPr dirty="0" sz="1000" spc="-45">
                <a:latin typeface="Arial MT"/>
                <a:cs typeface="Arial MT"/>
              </a:rPr>
              <a:t>explodem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para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25.58%,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indicando </a:t>
            </a:r>
            <a:r>
              <a:rPr dirty="0" sz="1000" spc="-40">
                <a:latin typeface="Arial MT"/>
                <a:cs typeface="Arial MT"/>
              </a:rPr>
              <a:t>colisão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crônica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por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contenção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no </a:t>
            </a:r>
            <a:r>
              <a:rPr dirty="0" sz="1000" spc="-35">
                <a:latin typeface="Arial MT"/>
                <a:cs typeface="Arial MT"/>
              </a:rPr>
              <a:t>canal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(Gargalo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G2).</a:t>
            </a:r>
            <a:endParaRPr sz="1000">
              <a:latin typeface="Arial MT"/>
              <a:cs typeface="Arial MT"/>
            </a:endParaRPr>
          </a:p>
          <a:p>
            <a:pPr marL="12700" marR="8255">
              <a:lnSpc>
                <a:spcPct val="100000"/>
              </a:lnSpc>
              <a:spcBef>
                <a:spcPts val="240"/>
              </a:spcBef>
            </a:pPr>
            <a:r>
              <a:rPr dirty="0" sz="1000" spc="-100">
                <a:latin typeface="Arial Black"/>
                <a:cs typeface="Arial Black"/>
              </a:rPr>
              <a:t>Grupo</a:t>
            </a:r>
            <a:r>
              <a:rPr dirty="0" sz="1000" spc="15">
                <a:latin typeface="Arial Black"/>
                <a:cs typeface="Arial Black"/>
              </a:rPr>
              <a:t> </a:t>
            </a:r>
            <a:r>
              <a:rPr dirty="0" sz="1000">
                <a:latin typeface="Arial Black"/>
                <a:cs typeface="Arial Black"/>
              </a:rPr>
              <a:t>C</a:t>
            </a:r>
            <a:r>
              <a:rPr dirty="0" sz="1000" spc="-40">
                <a:latin typeface="Arial Black"/>
                <a:cs typeface="Arial Black"/>
              </a:rPr>
              <a:t> </a:t>
            </a:r>
            <a:r>
              <a:rPr dirty="0" sz="1000" spc="-50">
                <a:latin typeface="Arial Black"/>
                <a:cs typeface="Arial Black"/>
              </a:rPr>
              <a:t>(Alta</a:t>
            </a:r>
            <a:r>
              <a:rPr dirty="0" sz="1000" spc="-10">
                <a:latin typeface="Arial Black"/>
                <a:cs typeface="Arial Black"/>
              </a:rPr>
              <a:t> </a:t>
            </a:r>
            <a:r>
              <a:rPr dirty="0" sz="1000" spc="-55">
                <a:latin typeface="Arial Black"/>
                <a:cs typeface="Arial Black"/>
              </a:rPr>
              <a:t>Retransmissão)</a:t>
            </a:r>
            <a:r>
              <a:rPr dirty="0" sz="1000" spc="-55">
                <a:latin typeface="Arial MT"/>
                <a:cs typeface="Arial MT"/>
              </a:rPr>
              <a:t>: </a:t>
            </a:r>
            <a:r>
              <a:rPr dirty="0" sz="1000" spc="-45">
                <a:latin typeface="Arial MT"/>
                <a:cs typeface="Arial MT"/>
              </a:rPr>
              <a:t>Excelente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(-</a:t>
            </a:r>
            <a:r>
              <a:rPr dirty="0" sz="1000">
                <a:latin typeface="Arial MT"/>
                <a:cs typeface="Arial MT"/>
              </a:rPr>
              <a:t>42.5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dBm),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mas </a:t>
            </a:r>
            <a:r>
              <a:rPr dirty="0" sz="1000" spc="-35">
                <a:latin typeface="Arial MT"/>
                <a:cs typeface="Arial MT"/>
              </a:rPr>
              <a:t>perda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recorde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 </a:t>
            </a:r>
            <a:r>
              <a:rPr dirty="0" sz="1000" spc="-35">
                <a:latin typeface="Arial MT"/>
                <a:cs typeface="Arial MT"/>
              </a:rPr>
              <a:t>39.67%</a:t>
            </a:r>
            <a:r>
              <a:rPr dirty="0" sz="1000" spc="-25">
                <a:latin typeface="Arial MT"/>
                <a:cs typeface="Arial MT"/>
              </a:rPr>
              <a:t> de </a:t>
            </a:r>
            <a:r>
              <a:rPr dirty="0" sz="1000" spc="-40">
                <a:latin typeface="Arial MT"/>
                <a:cs typeface="Arial MT"/>
              </a:rPr>
              <a:t>pacotes.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Revela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desbalanço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de </a:t>
            </a:r>
            <a:r>
              <a:rPr dirty="0" sz="1000" spc="-30">
                <a:latin typeface="Arial MT"/>
                <a:cs typeface="Arial MT"/>
              </a:rPr>
              <a:t>potência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transmissão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AP-</a:t>
            </a:r>
            <a:r>
              <a:rPr dirty="0" sz="1000" spc="-20">
                <a:latin typeface="Arial MT"/>
                <a:cs typeface="Arial MT"/>
              </a:rPr>
              <a:t>Cliente.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7881" y="195190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95090" y="1173029"/>
            <a:ext cx="1880825" cy="110629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428481" y="2364862"/>
            <a:ext cx="201295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961F38"/>
                </a:solidFill>
                <a:latin typeface="Tahoma"/>
                <a:cs typeface="Tahoma"/>
              </a:rPr>
              <a:t>Figura:</a:t>
            </a:r>
            <a:r>
              <a:rPr dirty="0" sz="900" spc="2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Perfis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de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APs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UniFi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(Centróides)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1" name="object 11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6974" y="-1451"/>
            <a:ext cx="66421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Recomendações</a:t>
            </a:r>
            <a:r>
              <a:rPr dirty="0" sz="500" spc="4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e</a:t>
            </a:r>
            <a:r>
              <a:rPr dirty="0" sz="500" spc="4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500" spc="-2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QoS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467359"/>
          </a:xfrm>
          <a:custGeom>
            <a:avLst/>
            <a:gdLst/>
            <a:ahLst/>
            <a:cxnLst/>
            <a:rect l="l" t="t" r="r" b="b"/>
            <a:pathLst>
              <a:path w="4608195" h="467359">
                <a:moveTo>
                  <a:pt x="4608004" y="116687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16687"/>
                </a:lnTo>
                <a:lnTo>
                  <a:pt x="0" y="116687"/>
                </a:lnTo>
                <a:lnTo>
                  <a:pt x="0" y="466813"/>
                </a:lnTo>
                <a:lnTo>
                  <a:pt x="4608004" y="466813"/>
                </a:lnTo>
                <a:lnTo>
                  <a:pt x="4608004" y="116687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Recomendações</a:t>
            </a:r>
            <a:r>
              <a:rPr dirty="0" spc="-45"/>
              <a:t> </a:t>
            </a:r>
            <a:r>
              <a:rPr dirty="0"/>
              <a:t>e</a:t>
            </a:r>
            <a:r>
              <a:rPr dirty="0" spc="-90"/>
              <a:t> </a:t>
            </a:r>
            <a:r>
              <a:rPr dirty="0" spc="-25"/>
              <a:t>Ações</a:t>
            </a:r>
            <a:r>
              <a:rPr dirty="0" spc="-65"/>
              <a:t> </a:t>
            </a:r>
            <a:r>
              <a:rPr dirty="0" spc="-10"/>
              <a:t>Práticas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792" y="715561"/>
            <a:ext cx="399161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45">
                <a:latin typeface="Arial MT"/>
                <a:cs typeface="Arial MT"/>
              </a:rPr>
              <a:t>Com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base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diagnóstico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dos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gargalos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físicos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perfis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de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APs,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sugerimos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as </a:t>
            </a:r>
            <a:r>
              <a:rPr dirty="0" sz="1000" spc="-50">
                <a:latin typeface="Arial MT"/>
                <a:cs typeface="Arial MT"/>
              </a:rPr>
              <a:t>seguintes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intervenções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engenharia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10">
                <a:latin typeface="Arial MT"/>
                <a:cs typeface="Arial MT"/>
              </a:rPr>
              <a:t> rede: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4315" y="1119784"/>
          <a:ext cx="4516120" cy="572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9285"/>
              </a:tblGrid>
              <a:tr h="2025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000" spc="-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Solução</a:t>
                      </a:r>
                      <a:r>
                        <a:rPr dirty="0" sz="10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para</a:t>
                      </a:r>
                      <a:r>
                        <a:rPr dirty="0" sz="100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Gargalo</a:t>
                      </a:r>
                      <a:r>
                        <a:rPr dirty="0" sz="10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G1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(Baixa</a:t>
                      </a:r>
                      <a:r>
                        <a:rPr dirty="0" sz="10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4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Qualidade</a:t>
                      </a:r>
                      <a:r>
                        <a:rPr dirty="0" sz="10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10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Enlace)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255">
                    <a:solidFill>
                      <a:srgbClr val="70182A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41910" marR="4622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000" spc="-50">
                          <a:latin typeface="Arial MT"/>
                          <a:cs typeface="Arial MT"/>
                        </a:rPr>
                        <a:t>Remanejamento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latin typeface="Arial MT"/>
                          <a:cs typeface="Arial MT"/>
                        </a:rPr>
                        <a:t>físico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0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latin typeface="Arial MT"/>
                          <a:cs typeface="Arial MT"/>
                        </a:rPr>
                        <a:t>APs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 do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5">
                          <a:latin typeface="Arial MT"/>
                          <a:cs typeface="Arial MT"/>
                        </a:rPr>
                        <a:t>Grupo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D</a:t>
                      </a:r>
                      <a:r>
                        <a:rPr dirty="0" sz="10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5">
                          <a:latin typeface="Arial MT"/>
                          <a:cs typeface="Arial MT"/>
                        </a:rPr>
                        <a:t>para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0">
                          <a:latin typeface="Arial MT"/>
                          <a:cs typeface="Arial MT"/>
                        </a:rPr>
                        <a:t>reduzir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45">
                          <a:latin typeface="Arial MT"/>
                          <a:cs typeface="Arial MT"/>
                        </a:rPr>
                        <a:t>barreiras</a:t>
                      </a:r>
                      <a:r>
                        <a:rPr dirty="0" sz="10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45">
                          <a:latin typeface="Arial MT"/>
                          <a:cs typeface="Arial MT"/>
                        </a:rPr>
                        <a:t>físicas</a:t>
                      </a:r>
                      <a:r>
                        <a:rPr dirty="0" sz="10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latin typeface="Arial MT"/>
                          <a:cs typeface="Arial MT"/>
                        </a:rPr>
                        <a:t>de </a:t>
                      </a:r>
                      <a:r>
                        <a:rPr dirty="0" sz="1000" spc="-40">
                          <a:latin typeface="Arial MT"/>
                          <a:cs typeface="Arial MT"/>
                        </a:rPr>
                        <a:t>atenuação</a:t>
                      </a:r>
                      <a:r>
                        <a:rPr dirty="0" sz="1000" spc="-30">
                          <a:latin typeface="Arial MT"/>
                          <a:cs typeface="Arial MT"/>
                        </a:rPr>
                        <a:t> de</a:t>
                      </a:r>
                      <a:r>
                        <a:rPr dirty="0" sz="10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RF</a:t>
                      </a:r>
                      <a:r>
                        <a:rPr dirty="0" sz="10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10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60">
                          <a:latin typeface="Arial MT"/>
                          <a:cs typeface="Arial MT"/>
                        </a:rPr>
                        <a:t>preencher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60">
                          <a:latin typeface="Arial MT"/>
                          <a:cs typeface="Arial MT"/>
                        </a:rPr>
                        <a:t>vales</a:t>
                      </a:r>
                      <a:r>
                        <a:rPr dirty="0" sz="10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10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cobertura.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4765">
                    <a:solidFill>
                      <a:srgbClr val="F0E7E9"/>
                    </a:solidFill>
                  </a:tcPr>
                </a:tc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84315" y="1819592"/>
            <a:ext cx="4439920" cy="1149985"/>
            <a:chOff x="84315" y="1819592"/>
            <a:chExt cx="4439920" cy="1149985"/>
          </a:xfrm>
        </p:grpSpPr>
        <p:sp>
          <p:nvSpPr>
            <p:cNvPr id="8" name="object 8"/>
            <p:cNvSpPr/>
            <p:nvPr/>
          </p:nvSpPr>
          <p:spPr>
            <a:xfrm>
              <a:off x="84315" y="1819592"/>
              <a:ext cx="4439920" cy="203200"/>
            </a:xfrm>
            <a:custGeom>
              <a:avLst/>
              <a:gdLst/>
              <a:ahLst/>
              <a:cxnLst/>
              <a:rect l="l" t="t" r="r" b="b"/>
              <a:pathLst>
                <a:path w="4439920" h="203200">
                  <a:moveTo>
                    <a:pt x="0" y="202844"/>
                  </a:moveTo>
                  <a:lnTo>
                    <a:pt x="4439361" y="202844"/>
                  </a:lnTo>
                  <a:lnTo>
                    <a:pt x="4439361" y="0"/>
                  </a:lnTo>
                  <a:lnTo>
                    <a:pt x="0" y="0"/>
                  </a:lnTo>
                  <a:lnTo>
                    <a:pt x="0" y="202844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4315" y="2022437"/>
              <a:ext cx="4439920" cy="947419"/>
            </a:xfrm>
            <a:custGeom>
              <a:avLst/>
              <a:gdLst/>
              <a:ahLst/>
              <a:cxnLst/>
              <a:rect l="l" t="t" r="r" b="b"/>
              <a:pathLst>
                <a:path w="4439920" h="947419">
                  <a:moveTo>
                    <a:pt x="4439361" y="0"/>
                  </a:moveTo>
                  <a:lnTo>
                    <a:pt x="0" y="0"/>
                  </a:lnTo>
                  <a:lnTo>
                    <a:pt x="0" y="946835"/>
                  </a:lnTo>
                  <a:lnTo>
                    <a:pt x="4439361" y="946835"/>
                  </a:lnTo>
                  <a:lnTo>
                    <a:pt x="4439361" y="0"/>
                  </a:lnTo>
                  <a:close/>
                </a:path>
              </a:pathLst>
            </a:custGeom>
            <a:solidFill>
              <a:srgbClr val="F0E7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60045" y="2155990"/>
              <a:ext cx="56515" cy="398145"/>
            </a:xfrm>
            <a:custGeom>
              <a:avLst/>
              <a:gdLst/>
              <a:ahLst/>
              <a:cxnLst/>
              <a:rect l="l" t="t" r="r" b="b"/>
              <a:pathLst>
                <a:path w="56514" h="398144">
                  <a:moveTo>
                    <a:pt x="56235" y="341617"/>
                  </a:moveTo>
                  <a:lnTo>
                    <a:pt x="0" y="341617"/>
                  </a:lnTo>
                  <a:lnTo>
                    <a:pt x="0" y="397852"/>
                  </a:lnTo>
                  <a:lnTo>
                    <a:pt x="56235" y="397852"/>
                  </a:lnTo>
                  <a:lnTo>
                    <a:pt x="56235" y="341617"/>
                  </a:lnTo>
                  <a:close/>
                </a:path>
                <a:path w="56514" h="398144">
                  <a:moveTo>
                    <a:pt x="56235" y="0"/>
                  </a:moveTo>
                  <a:lnTo>
                    <a:pt x="0" y="0"/>
                  </a:lnTo>
                  <a:lnTo>
                    <a:pt x="0" y="56235"/>
                  </a:lnTo>
                  <a:lnTo>
                    <a:pt x="56235" y="56235"/>
                  </a:lnTo>
                  <a:lnTo>
                    <a:pt x="56235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13792" y="1815724"/>
            <a:ext cx="4368165" cy="10801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Solução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60">
                <a:solidFill>
                  <a:srgbClr val="FFFFFF"/>
                </a:solidFill>
                <a:latin typeface="Arial MT"/>
                <a:cs typeface="Arial MT"/>
              </a:rPr>
              <a:t>Gargalos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Arial MT"/>
                <a:cs typeface="Arial MT"/>
              </a:rPr>
              <a:t>G2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Arial MT"/>
                <a:cs typeface="Arial MT"/>
              </a:rPr>
              <a:t>G3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(Congestionamento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Interferência)</a:t>
            </a:r>
            <a:endParaRPr sz="1000">
              <a:latin typeface="Arial MT"/>
              <a:cs typeface="Arial MT"/>
            </a:endParaRPr>
          </a:p>
          <a:p>
            <a:pPr marL="265430" marR="5080">
              <a:lnSpc>
                <a:spcPct val="100000"/>
              </a:lnSpc>
              <a:spcBef>
                <a:spcPts val="825"/>
              </a:spcBef>
            </a:pPr>
            <a:r>
              <a:rPr dirty="0" sz="1000" spc="-25">
                <a:latin typeface="Arial MT"/>
                <a:cs typeface="Arial MT"/>
              </a:rPr>
              <a:t>Ativação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100">
                <a:latin typeface="Arial Black"/>
                <a:cs typeface="Arial Black"/>
              </a:rPr>
              <a:t>Band</a:t>
            </a:r>
            <a:r>
              <a:rPr dirty="0" sz="1000" spc="15">
                <a:latin typeface="Arial Black"/>
                <a:cs typeface="Arial Black"/>
              </a:rPr>
              <a:t> </a:t>
            </a:r>
            <a:r>
              <a:rPr dirty="0" sz="1000" spc="-114">
                <a:latin typeface="Arial Black"/>
                <a:cs typeface="Arial Black"/>
              </a:rPr>
              <a:t>Steering</a:t>
            </a:r>
            <a:r>
              <a:rPr dirty="0" sz="1000" spc="10">
                <a:latin typeface="Arial Black"/>
                <a:cs typeface="Arial Black"/>
              </a:rPr>
              <a:t> </a:t>
            </a:r>
            <a:r>
              <a:rPr dirty="0" sz="1000">
                <a:latin typeface="Arial MT"/>
                <a:cs typeface="Arial MT"/>
              </a:rPr>
              <a:t>ativo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em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ambas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85">
                <a:latin typeface="Arial MT"/>
                <a:cs typeface="Arial MT"/>
              </a:rPr>
              <a:t>as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75">
                <a:latin typeface="Arial MT"/>
                <a:cs typeface="Arial MT"/>
              </a:rPr>
              <a:t>redes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para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direcionar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clientes </a:t>
            </a:r>
            <a:r>
              <a:rPr dirty="0" sz="1000" spc="-35">
                <a:latin typeface="Arial MT"/>
                <a:cs typeface="Arial MT"/>
              </a:rPr>
              <a:t>com </a:t>
            </a:r>
            <a:r>
              <a:rPr dirty="0" sz="1000" spc="-10">
                <a:latin typeface="Arial MT"/>
                <a:cs typeface="Arial MT"/>
              </a:rPr>
              <a:t>rádio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compatível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2,4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GHz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para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banda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5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GHz.</a:t>
            </a:r>
            <a:endParaRPr sz="1000">
              <a:latin typeface="Arial MT"/>
              <a:cs typeface="Arial MT"/>
            </a:endParaRPr>
          </a:p>
          <a:p>
            <a:pPr marL="265430" marR="38100">
              <a:lnSpc>
                <a:spcPct val="100000"/>
              </a:lnSpc>
              <a:spcBef>
                <a:spcPts val="290"/>
              </a:spcBef>
            </a:pPr>
            <a:r>
              <a:rPr dirty="0" sz="1000" spc="-10">
                <a:latin typeface="Arial MT"/>
                <a:cs typeface="Arial MT"/>
              </a:rPr>
              <a:t>Ajuste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dinâmico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canais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0">
                <a:latin typeface="Arial MT"/>
                <a:cs typeface="Arial MT"/>
              </a:rPr>
              <a:t> RF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estáticos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não-</a:t>
            </a:r>
            <a:r>
              <a:rPr dirty="0" sz="1000" spc="-50">
                <a:latin typeface="Arial MT"/>
                <a:cs typeface="Arial MT"/>
              </a:rPr>
              <a:t>sobrepostos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nas </a:t>
            </a:r>
            <a:r>
              <a:rPr dirty="0" sz="1000" spc="-35">
                <a:latin typeface="Arial MT"/>
                <a:cs typeface="Arial MT"/>
              </a:rPr>
              <a:t>controladoras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UniFi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redução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limiar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potência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máxima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transmissão </a:t>
            </a:r>
            <a:r>
              <a:rPr dirty="0" sz="1000">
                <a:latin typeface="Arial MT"/>
                <a:cs typeface="Arial MT"/>
              </a:rPr>
              <a:t>do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rádio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para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mitigar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assimetria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enlace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Grupo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  <a:hlinkClick r:id="rId3" action="ppaction://hlinksldjump"/>
              </a:rPr>
              <a:t>(dos </a:t>
            </a:r>
            <a:r>
              <a:rPr dirty="0" sz="1000" spc="-40">
                <a:latin typeface="Arial MT"/>
                <a:cs typeface="Arial MT"/>
                <a:hlinkClick r:id="rId3" action="ppaction://hlinksldjump"/>
              </a:rPr>
              <a:t>Santos,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  <a:hlinkClick r:id="rId3" action="ppaction://hlinksldjump"/>
              </a:rPr>
              <a:t>2017).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3" name="object 13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6297" y="-1451"/>
            <a:ext cx="33464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Conclusões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2"/>
            <a:ext cx="4608195" cy="467359"/>
          </a:xfrm>
          <a:custGeom>
            <a:avLst/>
            <a:gdLst/>
            <a:ahLst/>
            <a:cxnLst/>
            <a:rect l="l" t="t" r="r" b="b"/>
            <a:pathLst>
              <a:path w="4608195" h="467359">
                <a:moveTo>
                  <a:pt x="4608004" y="116687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16687"/>
                </a:lnTo>
                <a:lnTo>
                  <a:pt x="0" y="116687"/>
                </a:lnTo>
                <a:lnTo>
                  <a:pt x="0" y="466813"/>
                </a:lnTo>
                <a:lnTo>
                  <a:pt x="4608004" y="466813"/>
                </a:lnTo>
                <a:lnTo>
                  <a:pt x="4608004" y="116687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Conclusões</a:t>
            </a:r>
          </a:p>
        </p:txBody>
      </p:sp>
      <p:sp>
        <p:nvSpPr>
          <p:cNvPr id="5" name="object 5"/>
          <p:cNvSpPr/>
          <p:nvPr/>
        </p:nvSpPr>
        <p:spPr>
          <a:xfrm>
            <a:off x="260045" y="68555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6852" y="602569"/>
            <a:ext cx="4106545" cy="180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9906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 MT"/>
                <a:cs typeface="Arial MT"/>
              </a:rPr>
              <a:t>O</a:t>
            </a:r>
            <a:r>
              <a:rPr dirty="0" sz="1000" spc="-6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estudo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coletou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caracterizou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um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dataset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10">
                <a:latin typeface="Arial Black"/>
                <a:cs typeface="Arial Black"/>
              </a:rPr>
              <a:t>354.254</a:t>
            </a:r>
            <a:r>
              <a:rPr dirty="0" sz="1000" spc="25">
                <a:latin typeface="Arial Black"/>
                <a:cs typeface="Arial Black"/>
              </a:rPr>
              <a:t> </a:t>
            </a:r>
            <a:r>
              <a:rPr dirty="0" sz="1000" spc="-130">
                <a:latin typeface="Arial Black"/>
                <a:cs typeface="Arial Black"/>
              </a:rPr>
              <a:t>registros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25">
                <a:latin typeface="Arial Black"/>
                <a:cs typeface="Arial Black"/>
              </a:rPr>
              <a:t>de </a:t>
            </a:r>
            <a:r>
              <a:rPr dirty="0" sz="1000" spc="-114">
                <a:latin typeface="Arial Black"/>
                <a:cs typeface="Arial Black"/>
              </a:rPr>
              <a:t>telemetria</a:t>
            </a:r>
            <a:r>
              <a:rPr dirty="0" sz="1000" spc="30">
                <a:latin typeface="Arial Black"/>
                <a:cs typeface="Arial Black"/>
              </a:rPr>
              <a:t> </a:t>
            </a:r>
            <a:r>
              <a:rPr dirty="0" sz="1000" spc="-140">
                <a:latin typeface="Arial Black"/>
                <a:cs typeface="Arial Black"/>
              </a:rPr>
              <a:t>reais</a:t>
            </a:r>
            <a:r>
              <a:rPr dirty="0" sz="1000">
                <a:latin typeface="Arial Black"/>
                <a:cs typeface="Arial Black"/>
              </a:rPr>
              <a:t> </a:t>
            </a:r>
            <a:r>
              <a:rPr dirty="0" sz="1000">
                <a:latin typeface="Arial MT"/>
                <a:cs typeface="Arial MT"/>
              </a:rPr>
              <a:t>no</a:t>
            </a:r>
            <a:r>
              <a:rPr dirty="0" sz="1000" spc="-6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campus,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fornecendo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um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diagnóstico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preciso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rede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de </a:t>
            </a:r>
            <a:r>
              <a:rPr dirty="0" sz="1000" spc="-10">
                <a:latin typeface="Arial MT"/>
                <a:cs typeface="Arial MT"/>
              </a:rPr>
              <a:t>produção.</a:t>
            </a:r>
            <a:endParaRPr sz="1000">
              <a:latin typeface="Arial MT"/>
              <a:cs typeface="Arial MT"/>
            </a:endParaRPr>
          </a:p>
          <a:p>
            <a:pPr marL="12700" marR="38735">
              <a:lnSpc>
                <a:spcPct val="100000"/>
              </a:lnSpc>
              <a:spcBef>
                <a:spcPts val="285"/>
              </a:spcBef>
            </a:pPr>
            <a:r>
              <a:rPr dirty="0" sz="1000" spc="-50">
                <a:latin typeface="Arial MT"/>
                <a:cs typeface="Arial MT"/>
              </a:rPr>
              <a:t>Validou-</a:t>
            </a:r>
            <a:r>
              <a:rPr dirty="0" sz="1000">
                <a:latin typeface="Arial MT"/>
                <a:cs typeface="Arial MT"/>
              </a:rPr>
              <a:t>se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que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 </a:t>
            </a:r>
            <a:r>
              <a:rPr dirty="0" sz="1000" spc="-35">
                <a:latin typeface="Arial MT"/>
                <a:cs typeface="Arial MT"/>
              </a:rPr>
              <a:t>insatisfação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com</a:t>
            </a:r>
            <a:r>
              <a:rPr dirty="0" sz="1000">
                <a:latin typeface="Arial MT"/>
                <a:cs typeface="Arial MT"/>
              </a:rPr>
              <a:t> a </a:t>
            </a:r>
            <a:r>
              <a:rPr dirty="0" sz="1000" spc="-55">
                <a:latin typeface="Arial MT"/>
                <a:cs typeface="Arial MT"/>
              </a:rPr>
              <a:t>rede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sem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fio </a:t>
            </a:r>
            <a:r>
              <a:rPr dirty="0" sz="1000" spc="-30">
                <a:latin typeface="Arial MT"/>
                <a:cs typeface="Arial MT"/>
              </a:rPr>
              <a:t>corporativa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decorre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de </a:t>
            </a:r>
            <a:r>
              <a:rPr dirty="0" sz="1000" spc="-40">
                <a:latin typeface="Arial MT"/>
                <a:cs typeface="Arial MT"/>
              </a:rPr>
              <a:t>contenção</a:t>
            </a:r>
            <a:r>
              <a:rPr dirty="0" sz="1000" spc="-30">
                <a:latin typeface="Arial MT"/>
                <a:cs typeface="Arial MT"/>
              </a:rPr>
              <a:t> de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meio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assimetria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potência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física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(Gargalos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G2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G3),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25">
                <a:latin typeface="Arial MT"/>
                <a:cs typeface="Arial MT"/>
              </a:rPr>
              <a:t> não </a:t>
            </a:r>
            <a:r>
              <a:rPr dirty="0" sz="1000">
                <a:latin typeface="Arial MT"/>
                <a:cs typeface="Arial MT"/>
              </a:rPr>
              <a:t>por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limites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de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banda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cabeada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(Gargalo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G5).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85"/>
              </a:spcBef>
            </a:pP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modelagem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K-</a:t>
            </a:r>
            <a:r>
              <a:rPr dirty="0" sz="1000" spc="-25">
                <a:latin typeface="Arial MT"/>
                <a:cs typeface="Arial MT"/>
              </a:rPr>
              <a:t>Means</a:t>
            </a:r>
            <a:r>
              <a:rPr dirty="0" sz="1000">
                <a:latin typeface="Arial MT"/>
                <a:cs typeface="Arial MT"/>
              </a:rPr>
              <a:t> foi </a:t>
            </a:r>
            <a:r>
              <a:rPr dirty="0" sz="1000" spc="-35">
                <a:latin typeface="Arial MT"/>
                <a:cs typeface="Arial MT"/>
              </a:rPr>
              <a:t>eficiente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em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agrupar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access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points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acordo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com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saúde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operacional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da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célula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sem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intervenção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julgamentos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manuais.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90"/>
              </a:spcBef>
            </a:pPr>
            <a:r>
              <a:rPr dirty="0" sz="1000" spc="-65">
                <a:latin typeface="Arial MT"/>
                <a:cs typeface="Arial MT"/>
              </a:rPr>
              <a:t>Ações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sugeridas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gerência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rádio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(potência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rádio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Band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Steering) </a:t>
            </a:r>
            <a:r>
              <a:rPr dirty="0" sz="1000" spc="-50">
                <a:latin typeface="Arial MT"/>
                <a:cs typeface="Arial MT"/>
              </a:rPr>
              <a:t>representam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intervenções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 </a:t>
            </a:r>
            <a:r>
              <a:rPr dirty="0" sz="1000" spc="-25">
                <a:latin typeface="Arial MT"/>
                <a:cs typeface="Arial MT"/>
              </a:rPr>
              <a:t>baixo custo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alto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impacto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prático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na</a:t>
            </a:r>
            <a:r>
              <a:rPr dirty="0" sz="1000" spc="-25">
                <a:latin typeface="Arial MT"/>
                <a:cs typeface="Arial MT"/>
              </a:rPr>
              <a:t> Qualidade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Experiência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(QoE)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dos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usuários.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0045" y="117900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0045" y="167246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0045" y="201408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4315" y="2532138"/>
            <a:ext cx="4439920" cy="166370"/>
          </a:xfrm>
          <a:prstGeom prst="rect">
            <a:avLst/>
          </a:prstGeom>
          <a:solidFill>
            <a:srgbClr val="70182A"/>
          </a:solidFill>
        </p:spPr>
        <p:txBody>
          <a:bodyPr wrap="square" lIns="0" tIns="2540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20"/>
              </a:spcBef>
            </a:pP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Trabalhos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Futuros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315" y="2698026"/>
            <a:ext cx="4439920" cy="497840"/>
          </a:xfrm>
          <a:prstGeom prst="rect">
            <a:avLst/>
          </a:prstGeom>
          <a:solidFill>
            <a:srgbClr val="F0E7E9"/>
          </a:solidFill>
        </p:spPr>
        <p:txBody>
          <a:bodyPr wrap="square" lIns="0" tIns="24765" rIns="0" bIns="0" rtlCol="0" vert="horz">
            <a:spAutoFit/>
          </a:bodyPr>
          <a:lstStyle/>
          <a:p>
            <a:pPr marL="41910" marR="48895">
              <a:lnSpc>
                <a:spcPct val="100000"/>
              </a:lnSpc>
              <a:spcBef>
                <a:spcPts val="195"/>
              </a:spcBef>
            </a:pPr>
            <a:r>
              <a:rPr dirty="0" sz="1000" spc="-25">
                <a:latin typeface="Arial MT"/>
                <a:cs typeface="Arial MT"/>
              </a:rPr>
              <a:t>Monitoramento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dispositivos</a:t>
            </a:r>
            <a:r>
              <a:rPr dirty="0" sz="1000">
                <a:latin typeface="Arial MT"/>
                <a:cs typeface="Arial MT"/>
              </a:rPr>
              <a:t> IoT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expansão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modelo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com</a:t>
            </a:r>
            <a:r>
              <a:rPr dirty="0" sz="1000" spc="-10">
                <a:latin typeface="Arial MT"/>
                <a:cs typeface="Arial MT"/>
              </a:rPr>
              <a:t> algoritmos </a:t>
            </a:r>
            <a:r>
              <a:rPr dirty="0" sz="1000" spc="-55">
                <a:latin typeface="Arial MT"/>
                <a:cs typeface="Arial MT"/>
              </a:rPr>
              <a:t>supervisionados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aprendizado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de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máquina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para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previsão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anomalias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em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tempo real.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3" name="object 13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69083" y="327985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D5A5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89465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EAD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67268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AD2D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260445" y="3267007"/>
            <a:ext cx="203200" cy="55880"/>
            <a:chOff x="3260445" y="3267007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23614" y="326953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D5A5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60445" y="327588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EAD2D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531425" y="3265742"/>
            <a:ext cx="203200" cy="58419"/>
            <a:chOff x="3531425" y="3265742"/>
            <a:chExt cx="203200" cy="58419"/>
          </a:xfrm>
        </p:grpSpPr>
        <p:sp>
          <p:nvSpPr>
            <p:cNvPr id="9" name="object 9"/>
            <p:cNvSpPr/>
            <p:nvPr/>
          </p:nvSpPr>
          <p:spPr>
            <a:xfrm>
              <a:off x="3620326" y="328223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D5A5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31425" y="327588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EAD2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07626" y="326953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EAD2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802393" y="3265742"/>
            <a:ext cx="203200" cy="58419"/>
            <a:chOff x="3802393" y="3265742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878593" y="326953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D5A5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802393" y="327588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EAD2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878593" y="3307638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0" y="12700"/>
                  </a:lnTo>
                </a:path>
              </a:pathLst>
            </a:custGeom>
            <a:ln w="7591">
              <a:solidFill>
                <a:srgbClr val="EAD2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4149573" y="3269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5A5A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4326582" y="3267007"/>
            <a:ext cx="238760" cy="57150"/>
            <a:chOff x="4326582" y="3267007"/>
            <a:chExt cx="238760" cy="57150"/>
          </a:xfrm>
        </p:grpSpPr>
        <p:sp>
          <p:nvSpPr>
            <p:cNvPr id="18" name="object 18"/>
            <p:cNvSpPr/>
            <p:nvPr/>
          </p:nvSpPr>
          <p:spPr>
            <a:xfrm>
              <a:off x="4451033" y="3300018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D5A5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423969" y="32735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D5A5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29112" y="326953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D5A5A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0" y="-12"/>
            <a:ext cx="2304415" cy="116839"/>
          </a:xfrm>
          <a:custGeom>
            <a:avLst/>
            <a:gdLst/>
            <a:ahLst/>
            <a:cxnLst/>
            <a:rect l="l" t="t" r="r" b="b"/>
            <a:pathLst>
              <a:path w="2304415" h="116839">
                <a:moveTo>
                  <a:pt x="2303995" y="0"/>
                </a:moveTo>
                <a:lnTo>
                  <a:pt x="0" y="0"/>
                </a:lnTo>
                <a:lnTo>
                  <a:pt x="0" y="116687"/>
                </a:lnTo>
                <a:lnTo>
                  <a:pt x="2303995" y="116687"/>
                </a:lnTo>
                <a:lnTo>
                  <a:pt x="2303995" y="0"/>
                </a:lnTo>
                <a:close/>
              </a:path>
            </a:pathLst>
          </a:custGeom>
          <a:solidFill>
            <a:srgbClr val="4B0F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26297" y="-1451"/>
            <a:ext cx="33464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Conclusões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-12"/>
            <a:ext cx="4608195" cy="467359"/>
          </a:xfrm>
          <a:custGeom>
            <a:avLst/>
            <a:gdLst/>
            <a:ahLst/>
            <a:cxnLst/>
            <a:rect l="l" t="t" r="r" b="b"/>
            <a:pathLst>
              <a:path w="4608195" h="467359">
                <a:moveTo>
                  <a:pt x="4608004" y="116687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16687"/>
                </a:lnTo>
                <a:lnTo>
                  <a:pt x="0" y="116687"/>
                </a:lnTo>
                <a:lnTo>
                  <a:pt x="0" y="466813"/>
                </a:lnTo>
                <a:lnTo>
                  <a:pt x="4608004" y="466813"/>
                </a:lnTo>
                <a:lnTo>
                  <a:pt x="4608004" y="116687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Agradecimentos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38340" y="1117581"/>
            <a:ext cx="3730625" cy="13436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14"/>
              </a:spcBef>
            </a:pPr>
            <a:r>
              <a:rPr dirty="0" sz="2050">
                <a:solidFill>
                  <a:srgbClr val="961F38"/>
                </a:solidFill>
                <a:latin typeface="Arial MT"/>
                <a:cs typeface="Arial MT"/>
              </a:rPr>
              <a:t>Muito</a:t>
            </a:r>
            <a:r>
              <a:rPr dirty="0" sz="2050" spc="-130">
                <a:solidFill>
                  <a:srgbClr val="961F38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961F38"/>
                </a:solidFill>
                <a:latin typeface="Arial MT"/>
                <a:cs typeface="Arial MT"/>
              </a:rPr>
              <a:t>obrigado!</a:t>
            </a: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Arial MT"/>
              <a:cs typeface="Arial MT"/>
            </a:endParaRPr>
          </a:p>
          <a:p>
            <a:pPr algn="ctr" marL="12065" marR="5080" indent="-635">
              <a:lnSpc>
                <a:spcPts val="1390"/>
              </a:lnSpc>
            </a:pPr>
            <a:r>
              <a:rPr dirty="0" sz="1200" spc="-55">
                <a:solidFill>
                  <a:srgbClr val="961F38"/>
                </a:solidFill>
                <a:latin typeface="Tahoma"/>
                <a:cs typeface="Tahoma"/>
              </a:rPr>
              <a:t>Agradeço</a:t>
            </a:r>
            <a:r>
              <a:rPr dirty="0" sz="1200" spc="-1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61F38"/>
                </a:solidFill>
                <a:latin typeface="Tahoma"/>
                <a:cs typeface="Tahoma"/>
              </a:rPr>
              <a:t>à </a:t>
            </a:r>
            <a:r>
              <a:rPr dirty="0" sz="1200" spc="-65">
                <a:solidFill>
                  <a:srgbClr val="961F38"/>
                </a:solidFill>
                <a:latin typeface="Tahoma"/>
                <a:cs typeface="Tahoma"/>
              </a:rPr>
              <a:t>banca</a:t>
            </a:r>
            <a:r>
              <a:rPr dirty="0" sz="1200" spc="-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1200" spc="-70">
                <a:solidFill>
                  <a:srgbClr val="961F38"/>
                </a:solidFill>
                <a:latin typeface="Tahoma"/>
                <a:cs typeface="Tahoma"/>
              </a:rPr>
              <a:t>examinadora,</a:t>
            </a:r>
            <a:r>
              <a:rPr dirty="0" sz="1200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961F38"/>
                </a:solidFill>
                <a:latin typeface="Tahoma"/>
                <a:cs typeface="Tahoma"/>
              </a:rPr>
              <a:t>ao</a:t>
            </a:r>
            <a:r>
              <a:rPr dirty="0" sz="1200" spc="-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1200" spc="-100">
                <a:solidFill>
                  <a:srgbClr val="961F38"/>
                </a:solidFill>
                <a:latin typeface="Tahoma"/>
                <a:cs typeface="Tahoma"/>
              </a:rPr>
              <a:t>meu</a:t>
            </a:r>
            <a:r>
              <a:rPr dirty="0" sz="1200" spc="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1200" spc="-70">
                <a:solidFill>
                  <a:srgbClr val="961F38"/>
                </a:solidFill>
                <a:latin typeface="Tahoma"/>
                <a:cs typeface="Tahoma"/>
              </a:rPr>
              <a:t>orientador</a:t>
            </a:r>
            <a:r>
              <a:rPr dirty="0" sz="1200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961F38"/>
                </a:solidFill>
                <a:latin typeface="Tahoma"/>
                <a:cs typeface="Tahoma"/>
              </a:rPr>
              <a:t>Marlon, </a:t>
            </a:r>
            <a:r>
              <a:rPr dirty="0" sz="1200" spc="-60">
                <a:solidFill>
                  <a:srgbClr val="961F38"/>
                </a:solidFill>
                <a:latin typeface="Tahoma"/>
                <a:cs typeface="Tahoma"/>
              </a:rPr>
              <a:t>coorientador</a:t>
            </a:r>
            <a:r>
              <a:rPr dirty="0" sz="1200" spc="-3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961F38"/>
                </a:solidFill>
                <a:latin typeface="Tahoma"/>
                <a:cs typeface="Tahoma"/>
              </a:rPr>
              <a:t>Plínio</a:t>
            </a:r>
            <a:r>
              <a:rPr dirty="0" sz="1200" spc="-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1200" spc="-130">
                <a:solidFill>
                  <a:srgbClr val="961F38"/>
                </a:solidFill>
                <a:latin typeface="Tahoma"/>
                <a:cs typeface="Tahoma"/>
              </a:rPr>
              <a:t>e</a:t>
            </a:r>
            <a:r>
              <a:rPr dirty="0" sz="1200" spc="1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61F38"/>
                </a:solidFill>
                <a:latin typeface="Tahoma"/>
                <a:cs typeface="Tahoma"/>
              </a:rPr>
              <a:t>à</a:t>
            </a:r>
            <a:r>
              <a:rPr dirty="0" sz="1200" spc="-10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1200" spc="-60">
                <a:solidFill>
                  <a:srgbClr val="961F38"/>
                </a:solidFill>
                <a:latin typeface="Tahoma"/>
                <a:cs typeface="Tahoma"/>
              </a:rPr>
              <a:t>Universidade</a:t>
            </a:r>
            <a:r>
              <a:rPr dirty="0" sz="1200" spc="-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1200" spc="-60">
                <a:solidFill>
                  <a:srgbClr val="961F38"/>
                </a:solidFill>
                <a:latin typeface="Tahoma"/>
                <a:cs typeface="Tahoma"/>
              </a:rPr>
              <a:t>Federal</a:t>
            </a:r>
            <a:r>
              <a:rPr dirty="0" sz="1200" spc="-10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1200" spc="-80">
                <a:solidFill>
                  <a:srgbClr val="961F38"/>
                </a:solidFill>
                <a:latin typeface="Tahoma"/>
                <a:cs typeface="Tahoma"/>
              </a:rPr>
              <a:t>de</a:t>
            </a:r>
            <a:r>
              <a:rPr dirty="0" sz="1200" spc="-5">
                <a:solidFill>
                  <a:srgbClr val="961F38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961F38"/>
                </a:solidFill>
                <a:latin typeface="Tahoma"/>
                <a:cs typeface="Tahoma"/>
              </a:rPr>
              <a:t>Ouro</a:t>
            </a:r>
            <a:r>
              <a:rPr dirty="0" sz="1200" spc="-10">
                <a:solidFill>
                  <a:srgbClr val="961F38"/>
                </a:solidFill>
                <a:latin typeface="Tahoma"/>
                <a:cs typeface="Tahoma"/>
              </a:rPr>
              <a:t> Preto.</a:t>
            </a:r>
            <a:endParaRPr sz="1200">
              <a:latin typeface="Tahoma"/>
              <a:cs typeface="Tahoma"/>
            </a:endParaRPr>
          </a:p>
          <a:p>
            <a:pPr algn="ctr" marL="1270">
              <a:lnSpc>
                <a:spcPct val="100000"/>
              </a:lnSpc>
              <a:spcBef>
                <a:spcPts val="1315"/>
              </a:spcBef>
            </a:pPr>
            <a:r>
              <a:rPr dirty="0" sz="1200" spc="-10">
                <a:solidFill>
                  <a:srgbClr val="961F38"/>
                </a:solidFill>
                <a:latin typeface="Tahoma"/>
                <a:cs typeface="Tahoma"/>
              </a:rPr>
              <a:t>Perguntas?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27" name="object 27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69083" y="327985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D5A5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89465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EAD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67268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AD2D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260445" y="3267007"/>
            <a:ext cx="203200" cy="55880"/>
            <a:chOff x="3260445" y="3267007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23614" y="326953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D5A5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60445" y="327588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EAD2D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531425" y="3265742"/>
            <a:ext cx="203200" cy="58419"/>
            <a:chOff x="3531425" y="3265742"/>
            <a:chExt cx="203200" cy="58419"/>
          </a:xfrm>
        </p:grpSpPr>
        <p:sp>
          <p:nvSpPr>
            <p:cNvPr id="9" name="object 9"/>
            <p:cNvSpPr/>
            <p:nvPr/>
          </p:nvSpPr>
          <p:spPr>
            <a:xfrm>
              <a:off x="3620326" y="328223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D5A5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31425" y="327588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EAD2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07626" y="326953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EAD2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802393" y="3265742"/>
            <a:ext cx="203200" cy="58419"/>
            <a:chOff x="3802393" y="3265742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878593" y="326953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D5A5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802393" y="327588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EAD2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878593" y="3307638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0" y="12700"/>
                  </a:lnTo>
                </a:path>
              </a:pathLst>
            </a:custGeom>
            <a:ln w="7591">
              <a:solidFill>
                <a:srgbClr val="EAD2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4149573" y="3269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5A5A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4326582" y="3267007"/>
            <a:ext cx="238760" cy="57150"/>
            <a:chOff x="4326582" y="3267007"/>
            <a:chExt cx="238760" cy="57150"/>
          </a:xfrm>
        </p:grpSpPr>
        <p:sp>
          <p:nvSpPr>
            <p:cNvPr id="18" name="object 18"/>
            <p:cNvSpPr/>
            <p:nvPr/>
          </p:nvSpPr>
          <p:spPr>
            <a:xfrm>
              <a:off x="4451033" y="3300018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D5A5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423969" y="32735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D5A5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29112" y="326953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D5A5A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0" y="-12"/>
            <a:ext cx="2304415" cy="116839"/>
          </a:xfrm>
          <a:custGeom>
            <a:avLst/>
            <a:gdLst/>
            <a:ahLst/>
            <a:cxnLst/>
            <a:rect l="l" t="t" r="r" b="b"/>
            <a:pathLst>
              <a:path w="2304415" h="116839">
                <a:moveTo>
                  <a:pt x="2303995" y="0"/>
                </a:moveTo>
                <a:lnTo>
                  <a:pt x="0" y="0"/>
                </a:lnTo>
                <a:lnTo>
                  <a:pt x="0" y="116687"/>
                </a:lnTo>
                <a:lnTo>
                  <a:pt x="2303995" y="116687"/>
                </a:lnTo>
                <a:lnTo>
                  <a:pt x="2303995" y="0"/>
                </a:lnTo>
                <a:close/>
              </a:path>
            </a:pathLst>
          </a:custGeom>
          <a:solidFill>
            <a:srgbClr val="4B0F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26297" y="-1451"/>
            <a:ext cx="33464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Conclusões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-12"/>
            <a:ext cx="4608195" cy="467359"/>
          </a:xfrm>
          <a:custGeom>
            <a:avLst/>
            <a:gdLst/>
            <a:ahLst/>
            <a:cxnLst/>
            <a:rect l="l" t="t" r="r" b="b"/>
            <a:pathLst>
              <a:path w="4608195" h="467359">
                <a:moveTo>
                  <a:pt x="4608004" y="116687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16687"/>
                </a:lnTo>
                <a:lnTo>
                  <a:pt x="0" y="116687"/>
                </a:lnTo>
                <a:lnTo>
                  <a:pt x="0" y="466813"/>
                </a:lnTo>
                <a:lnTo>
                  <a:pt x="4608004" y="466813"/>
                </a:lnTo>
                <a:lnTo>
                  <a:pt x="4608004" y="116687"/>
                </a:lnTo>
                <a:close/>
              </a:path>
            </a:pathLst>
          </a:custGeom>
          <a:solidFill>
            <a:srgbClr val="96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95300" y="176552"/>
            <a:ext cx="96837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5"/>
              <a:t>Referências</a:t>
            </a:r>
            <a:r>
              <a:rPr dirty="0" spc="-10"/>
              <a:t> </a:t>
            </a:r>
            <a:r>
              <a:rPr dirty="0" spc="-50"/>
              <a:t>I</a:t>
            </a:r>
          </a:p>
        </p:txBody>
      </p:sp>
      <p:grpSp>
        <p:nvGrpSpPr>
          <p:cNvPr id="25" name="object 25"/>
          <p:cNvGrpSpPr/>
          <p:nvPr/>
        </p:nvGrpSpPr>
        <p:grpSpPr>
          <a:xfrm>
            <a:off x="339039" y="1127777"/>
            <a:ext cx="106680" cy="144780"/>
            <a:chOff x="339039" y="1127777"/>
            <a:chExt cx="106680" cy="14478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579" y="1130317"/>
              <a:ext cx="101219" cy="13917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41579" y="1130317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54231" y="1149296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6883" y="1168274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54231" y="1199905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514" y="1196741"/>
              <a:ext cx="31635" cy="4428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98514" y="1250514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17493" y="11303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339039" y="1601551"/>
            <a:ext cx="106680" cy="144780"/>
            <a:chOff x="339039" y="1601551"/>
            <a:chExt cx="106680" cy="144780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579" y="1604091"/>
              <a:ext cx="101219" cy="13917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41579" y="1604091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54231" y="1623069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66883" y="1642048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54231" y="1673678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514" y="1670514"/>
              <a:ext cx="31635" cy="4428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98514" y="1724287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17493" y="160409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/>
          <p:cNvGrpSpPr/>
          <p:nvPr/>
        </p:nvGrpSpPr>
        <p:grpSpPr>
          <a:xfrm>
            <a:off x="339039" y="1905208"/>
            <a:ext cx="106680" cy="144780"/>
            <a:chOff x="339039" y="1905208"/>
            <a:chExt cx="106680" cy="144780"/>
          </a:xfrm>
        </p:grpSpPr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579" y="1907748"/>
              <a:ext cx="101219" cy="13917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41579" y="1907748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54231" y="1926726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66883" y="194570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54231" y="1977335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514" y="1974171"/>
              <a:ext cx="31635" cy="4428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98514" y="2027944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17493" y="19077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/>
          <p:cNvGrpSpPr/>
          <p:nvPr/>
        </p:nvGrpSpPr>
        <p:grpSpPr>
          <a:xfrm>
            <a:off x="339039" y="2234176"/>
            <a:ext cx="106680" cy="144780"/>
            <a:chOff x="339039" y="2234176"/>
            <a:chExt cx="106680" cy="144780"/>
          </a:xfrm>
        </p:grpSpPr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579" y="2236716"/>
              <a:ext cx="101219" cy="139174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41579" y="2236716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54231" y="2255695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66883" y="227467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54231" y="2306304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514" y="2303139"/>
              <a:ext cx="31635" cy="44283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398514" y="2356913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17493" y="223671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20788" rIns="0" bIns="0" rtlCol="0" vert="horz">
            <a:spAutoFit/>
          </a:bodyPr>
          <a:lstStyle/>
          <a:p>
            <a:pPr marL="189230" marR="145415" indent="17653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BIANCHI,</a:t>
            </a:r>
            <a:r>
              <a:rPr dirty="0" spc="70"/>
              <a:t> </a:t>
            </a:r>
            <a:r>
              <a:rPr dirty="0"/>
              <a:t>G.</a:t>
            </a:r>
            <a:r>
              <a:rPr dirty="0" spc="75"/>
              <a:t> </a:t>
            </a:r>
            <a:r>
              <a:rPr dirty="0" spc="-45"/>
              <a:t>Performance</a:t>
            </a:r>
            <a:r>
              <a:rPr dirty="0" spc="75"/>
              <a:t> </a:t>
            </a:r>
            <a:r>
              <a:rPr dirty="0" spc="-45"/>
              <a:t>analysis</a:t>
            </a:r>
            <a:r>
              <a:rPr dirty="0" spc="75"/>
              <a:t> </a:t>
            </a:r>
            <a:r>
              <a:rPr dirty="0"/>
              <a:t>of</a:t>
            </a:r>
            <a:r>
              <a:rPr dirty="0" spc="75"/>
              <a:t> </a:t>
            </a:r>
            <a:r>
              <a:rPr dirty="0"/>
              <a:t>the</a:t>
            </a:r>
            <a:r>
              <a:rPr dirty="0" spc="70"/>
              <a:t> </a:t>
            </a:r>
            <a:r>
              <a:rPr dirty="0" spc="-50"/>
              <a:t>ieee</a:t>
            </a:r>
            <a:r>
              <a:rPr dirty="0" spc="75"/>
              <a:t> </a:t>
            </a:r>
            <a:r>
              <a:rPr dirty="0" spc="-30"/>
              <a:t>802.11</a:t>
            </a:r>
            <a:r>
              <a:rPr dirty="0" spc="75"/>
              <a:t> </a:t>
            </a:r>
            <a:r>
              <a:rPr dirty="0" spc="-10"/>
              <a:t>distributed </a:t>
            </a:r>
            <a:r>
              <a:rPr dirty="0" spc="-25"/>
              <a:t>coordination</a:t>
            </a:r>
            <a:r>
              <a:rPr dirty="0" spc="20"/>
              <a:t> </a:t>
            </a:r>
            <a:r>
              <a:rPr dirty="0" spc="-10"/>
              <a:t>function.</a:t>
            </a:r>
            <a:r>
              <a:rPr dirty="0" spc="20"/>
              <a:t> </a:t>
            </a:r>
            <a:r>
              <a:rPr dirty="0" spc="-25" i="1">
                <a:latin typeface="Arial"/>
                <a:cs typeface="Arial"/>
              </a:rPr>
              <a:t>IEEE</a:t>
            </a:r>
            <a:r>
              <a:rPr dirty="0" spc="25" i="1">
                <a:latin typeface="Arial"/>
                <a:cs typeface="Arial"/>
              </a:rPr>
              <a:t> </a:t>
            </a:r>
            <a:r>
              <a:rPr dirty="0" spc="-25" i="1">
                <a:latin typeface="Arial"/>
                <a:cs typeface="Arial"/>
              </a:rPr>
              <a:t>Journal</a:t>
            </a:r>
            <a:r>
              <a:rPr dirty="0" spc="2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on</a:t>
            </a:r>
            <a:r>
              <a:rPr dirty="0" spc="20" i="1">
                <a:latin typeface="Arial"/>
                <a:cs typeface="Arial"/>
              </a:rPr>
              <a:t> </a:t>
            </a:r>
            <a:r>
              <a:rPr dirty="0" spc="-55" i="1">
                <a:latin typeface="Arial"/>
                <a:cs typeface="Arial"/>
              </a:rPr>
              <a:t>Selected</a:t>
            </a:r>
            <a:r>
              <a:rPr dirty="0" spc="25" i="1">
                <a:latin typeface="Arial"/>
                <a:cs typeface="Arial"/>
              </a:rPr>
              <a:t> </a:t>
            </a:r>
            <a:r>
              <a:rPr dirty="0" spc="-45" i="1">
                <a:latin typeface="Arial"/>
                <a:cs typeface="Arial"/>
              </a:rPr>
              <a:t>Areas</a:t>
            </a:r>
            <a:r>
              <a:rPr dirty="0" spc="2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in</a:t>
            </a:r>
            <a:r>
              <a:rPr dirty="0" spc="20" i="1">
                <a:latin typeface="Arial"/>
                <a:cs typeface="Arial"/>
              </a:rPr>
              <a:t> </a:t>
            </a:r>
            <a:r>
              <a:rPr dirty="0" spc="-25" i="1">
                <a:latin typeface="Arial"/>
                <a:cs typeface="Arial"/>
              </a:rPr>
              <a:t>Communications</a:t>
            </a:r>
            <a:r>
              <a:rPr dirty="0" spc="-25"/>
              <a:t>, </a:t>
            </a:r>
            <a:r>
              <a:rPr dirty="0" spc="-30"/>
              <a:t>IEEE</a:t>
            </a:r>
            <a:r>
              <a:rPr dirty="0" spc="-30"/>
              <a:t>,</a:t>
            </a:r>
            <a:r>
              <a:rPr dirty="0" spc="-15"/>
              <a:t> </a:t>
            </a:r>
            <a:r>
              <a:rPr dirty="0"/>
              <a:t>v.</a:t>
            </a:r>
            <a:r>
              <a:rPr dirty="0" spc="-10"/>
              <a:t> 18, </a:t>
            </a:r>
            <a:r>
              <a:rPr dirty="0"/>
              <a:t>n.</a:t>
            </a:r>
            <a:r>
              <a:rPr dirty="0" spc="-10"/>
              <a:t> </a:t>
            </a:r>
            <a:r>
              <a:rPr dirty="0"/>
              <a:t>3,</a:t>
            </a:r>
            <a:r>
              <a:rPr dirty="0" spc="-10"/>
              <a:t> </a:t>
            </a:r>
            <a:r>
              <a:rPr dirty="0"/>
              <a:t>p.</a:t>
            </a:r>
            <a:r>
              <a:rPr dirty="0" spc="-10"/>
              <a:t> </a:t>
            </a:r>
            <a:r>
              <a:rPr dirty="0" spc="-60"/>
              <a:t>535–</a:t>
            </a:r>
            <a:r>
              <a:rPr dirty="0" spc="-25"/>
              <a:t>547,</a:t>
            </a:r>
            <a:r>
              <a:rPr dirty="0" spc="-10"/>
              <a:t> 2000.</a:t>
            </a:r>
          </a:p>
          <a:p>
            <a:pPr marL="189230" marR="35560" indent="176530">
              <a:lnSpc>
                <a:spcPct val="100000"/>
              </a:lnSpc>
              <a:spcBef>
                <a:spcPts val="130"/>
              </a:spcBef>
            </a:pPr>
            <a:r>
              <a:rPr dirty="0" spc="-50"/>
              <a:t>Cisco</a:t>
            </a:r>
            <a:r>
              <a:rPr dirty="0"/>
              <a:t> </a:t>
            </a:r>
            <a:r>
              <a:rPr dirty="0" spc="-60"/>
              <a:t>Systems.</a:t>
            </a:r>
            <a:r>
              <a:rPr dirty="0" spc="5"/>
              <a:t> </a:t>
            </a:r>
            <a:r>
              <a:rPr dirty="0" spc="-40" i="1">
                <a:latin typeface="Arial"/>
                <a:cs typeface="Arial"/>
              </a:rPr>
              <a:t>Enterprise</a:t>
            </a:r>
            <a:r>
              <a:rPr dirty="0" i="1">
                <a:latin typeface="Arial"/>
                <a:cs typeface="Arial"/>
              </a:rPr>
              <a:t> Mobility</a:t>
            </a:r>
            <a:r>
              <a:rPr dirty="0" spc="5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8.5</a:t>
            </a:r>
            <a:r>
              <a:rPr dirty="0" i="1">
                <a:latin typeface="Arial"/>
                <a:cs typeface="Arial"/>
              </a:rPr>
              <a:t> </a:t>
            </a:r>
            <a:r>
              <a:rPr dirty="0" spc="-45" i="1">
                <a:latin typeface="Arial"/>
                <a:cs typeface="Arial"/>
              </a:rPr>
              <a:t>Design</a:t>
            </a:r>
            <a:r>
              <a:rPr dirty="0" spc="5" i="1">
                <a:latin typeface="Arial"/>
                <a:cs typeface="Arial"/>
              </a:rPr>
              <a:t> </a:t>
            </a:r>
            <a:r>
              <a:rPr dirty="0" spc="-35" i="1">
                <a:latin typeface="Arial"/>
                <a:cs typeface="Arial"/>
              </a:rPr>
              <a:t>Guide</a:t>
            </a:r>
            <a:r>
              <a:rPr dirty="0" spc="-35"/>
              <a:t>.</a:t>
            </a:r>
            <a:r>
              <a:rPr dirty="0" spc="5"/>
              <a:t> </a:t>
            </a:r>
            <a:r>
              <a:rPr dirty="0" spc="-60"/>
              <a:t>San</a:t>
            </a:r>
            <a:r>
              <a:rPr dirty="0"/>
              <a:t> </a:t>
            </a:r>
            <a:r>
              <a:rPr dirty="0" spc="-50"/>
              <a:t>Jose,</a:t>
            </a:r>
            <a:r>
              <a:rPr dirty="0" spc="5"/>
              <a:t> </a:t>
            </a:r>
            <a:r>
              <a:rPr dirty="0" spc="-10"/>
              <a:t>California, </a:t>
            </a:r>
            <a:r>
              <a:rPr dirty="0" spc="-10"/>
              <a:t>2020.</a:t>
            </a:r>
          </a:p>
          <a:p>
            <a:pPr marL="189230" marR="5080" indent="176530">
              <a:lnSpc>
                <a:spcPts val="1200"/>
              </a:lnSpc>
              <a:spcBef>
                <a:spcPts val="30"/>
              </a:spcBef>
            </a:pPr>
            <a:r>
              <a:rPr dirty="0" spc="-40"/>
              <a:t>dos</a:t>
            </a:r>
            <a:r>
              <a:rPr dirty="0" spc="-10"/>
              <a:t> </a:t>
            </a:r>
            <a:r>
              <a:rPr dirty="0" spc="-40"/>
              <a:t>Santos,</a:t>
            </a:r>
            <a:r>
              <a:rPr dirty="0" spc="-5"/>
              <a:t> </a:t>
            </a:r>
            <a:r>
              <a:rPr dirty="0"/>
              <a:t>J. </a:t>
            </a:r>
            <a:r>
              <a:rPr dirty="0" spc="-25" i="1">
                <a:latin typeface="Arial"/>
                <a:cs typeface="Arial"/>
              </a:rPr>
              <a:t>Provimento</a:t>
            </a:r>
            <a:r>
              <a:rPr dirty="0" spc="-5" i="1">
                <a:latin typeface="Arial"/>
                <a:cs typeface="Arial"/>
              </a:rPr>
              <a:t> </a:t>
            </a:r>
            <a:r>
              <a:rPr dirty="0" spc="-20" i="1">
                <a:latin typeface="Arial"/>
                <a:cs typeface="Arial"/>
              </a:rPr>
              <a:t>de</a:t>
            </a:r>
            <a:r>
              <a:rPr dirty="0" i="1">
                <a:latin typeface="Arial"/>
                <a:cs typeface="Arial"/>
              </a:rPr>
              <a:t> </a:t>
            </a:r>
            <a:r>
              <a:rPr dirty="0" spc="-55" i="1">
                <a:latin typeface="Arial"/>
                <a:cs typeface="Arial"/>
              </a:rPr>
              <a:t>QoS</a:t>
            </a:r>
            <a:r>
              <a:rPr dirty="0" spc="-5" i="1">
                <a:latin typeface="Arial"/>
                <a:cs typeface="Arial"/>
              </a:rPr>
              <a:t> </a:t>
            </a:r>
            <a:r>
              <a:rPr dirty="0" spc="-40" i="1">
                <a:latin typeface="Arial"/>
                <a:cs typeface="Arial"/>
              </a:rPr>
              <a:t>em</a:t>
            </a:r>
            <a:r>
              <a:rPr dirty="0" spc="-5" i="1">
                <a:latin typeface="Arial"/>
                <a:cs typeface="Arial"/>
              </a:rPr>
              <a:t> </a:t>
            </a:r>
            <a:r>
              <a:rPr dirty="0" spc="-70" i="1">
                <a:latin typeface="Arial"/>
                <a:cs typeface="Arial"/>
              </a:rPr>
              <a:t>redes</a:t>
            </a:r>
            <a:r>
              <a:rPr dirty="0" spc="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IP</a:t>
            </a:r>
            <a:r>
              <a:rPr dirty="0" spc="-5" i="1">
                <a:latin typeface="Arial"/>
                <a:cs typeface="Arial"/>
              </a:rPr>
              <a:t> </a:t>
            </a:r>
            <a:r>
              <a:rPr dirty="0" spc="-25" i="1">
                <a:latin typeface="Arial"/>
                <a:cs typeface="Arial"/>
              </a:rPr>
              <a:t>com</a:t>
            </a:r>
            <a:r>
              <a:rPr dirty="0" spc="-5" i="1">
                <a:latin typeface="Arial"/>
                <a:cs typeface="Arial"/>
              </a:rPr>
              <a:t> </a:t>
            </a:r>
            <a:r>
              <a:rPr dirty="0" spc="-40" i="1">
                <a:latin typeface="Arial"/>
                <a:cs typeface="Arial"/>
              </a:rPr>
              <a:t>aplicação</a:t>
            </a:r>
            <a:r>
              <a:rPr dirty="0" i="1">
                <a:latin typeface="Arial"/>
                <a:cs typeface="Arial"/>
              </a:rPr>
              <a:t> </a:t>
            </a:r>
            <a:r>
              <a:rPr dirty="0" spc="-60" i="1">
                <a:latin typeface="Arial"/>
                <a:cs typeface="Arial"/>
              </a:rPr>
              <a:t>das</a:t>
            </a:r>
            <a:r>
              <a:rPr dirty="0" spc="-5" i="1">
                <a:latin typeface="Arial"/>
                <a:cs typeface="Arial"/>
              </a:rPr>
              <a:t> </a:t>
            </a:r>
            <a:r>
              <a:rPr dirty="0" spc="-25" i="1">
                <a:latin typeface="Arial"/>
                <a:cs typeface="Arial"/>
              </a:rPr>
              <a:t>técnicas </a:t>
            </a:r>
            <a:r>
              <a:rPr dirty="0" spc="-30" i="1">
                <a:latin typeface="Arial"/>
                <a:cs typeface="Arial"/>
              </a:rPr>
              <a:t>de</a:t>
            </a:r>
            <a:r>
              <a:rPr dirty="0" spc="-5" i="1">
                <a:latin typeface="Arial"/>
                <a:cs typeface="Arial"/>
              </a:rPr>
              <a:t> </a:t>
            </a:r>
            <a:r>
              <a:rPr dirty="0" spc="-65" i="1">
                <a:latin typeface="Arial"/>
                <a:cs typeface="Arial"/>
              </a:rPr>
              <a:t>serviços</a:t>
            </a:r>
            <a:r>
              <a:rPr dirty="0" spc="5" i="1">
                <a:latin typeface="Arial"/>
                <a:cs typeface="Arial"/>
              </a:rPr>
              <a:t> </a:t>
            </a:r>
            <a:r>
              <a:rPr dirty="0" spc="-40" i="1">
                <a:latin typeface="Arial"/>
                <a:cs typeface="Arial"/>
              </a:rPr>
              <a:t>diferenciados</a:t>
            </a:r>
            <a:r>
              <a:rPr dirty="0" spc="-40"/>
              <a:t>.</a:t>
            </a:r>
            <a:r>
              <a:rPr dirty="0"/>
              <a:t> [S.l.], </a:t>
            </a:r>
            <a:r>
              <a:rPr dirty="0" spc="-10"/>
              <a:t>2017.</a:t>
            </a:r>
          </a:p>
          <a:p>
            <a:pPr marL="365760">
              <a:lnSpc>
                <a:spcPts val="1200"/>
              </a:lnSpc>
              <a:spcBef>
                <a:spcPts val="150"/>
              </a:spcBef>
            </a:pPr>
            <a:r>
              <a:rPr dirty="0" spc="-10"/>
              <a:t>GAST,</a:t>
            </a:r>
            <a:r>
              <a:rPr dirty="0" spc="10"/>
              <a:t> </a:t>
            </a:r>
            <a:r>
              <a:rPr dirty="0"/>
              <a:t>M.</a:t>
            </a:r>
            <a:r>
              <a:rPr dirty="0" spc="10"/>
              <a:t> </a:t>
            </a:r>
            <a:r>
              <a:rPr dirty="0"/>
              <a:t>S.</a:t>
            </a:r>
            <a:r>
              <a:rPr dirty="0" spc="10"/>
              <a:t> </a:t>
            </a:r>
            <a:r>
              <a:rPr dirty="0" spc="-30" i="1">
                <a:latin typeface="Arial"/>
                <a:cs typeface="Arial"/>
              </a:rPr>
              <a:t>802.11</a:t>
            </a:r>
            <a:r>
              <a:rPr dirty="0" spc="10" i="1">
                <a:latin typeface="Arial"/>
                <a:cs typeface="Arial"/>
              </a:rPr>
              <a:t> </a:t>
            </a:r>
            <a:r>
              <a:rPr dirty="0" spc="-50" i="1">
                <a:latin typeface="Arial"/>
                <a:cs typeface="Arial"/>
              </a:rPr>
              <a:t>Wireless</a:t>
            </a:r>
            <a:r>
              <a:rPr dirty="0" spc="15" i="1">
                <a:latin typeface="Arial"/>
                <a:cs typeface="Arial"/>
              </a:rPr>
              <a:t> </a:t>
            </a:r>
            <a:r>
              <a:rPr dirty="0" spc="-30" i="1">
                <a:latin typeface="Arial"/>
                <a:cs typeface="Arial"/>
              </a:rPr>
              <a:t>Networks:</a:t>
            </a:r>
            <a:r>
              <a:rPr dirty="0" spc="12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The</a:t>
            </a:r>
            <a:r>
              <a:rPr dirty="0" spc="1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Definitive</a:t>
            </a:r>
            <a:r>
              <a:rPr dirty="0" spc="10" i="1">
                <a:latin typeface="Arial"/>
                <a:cs typeface="Arial"/>
              </a:rPr>
              <a:t> </a:t>
            </a:r>
            <a:r>
              <a:rPr dirty="0" spc="-35" i="1">
                <a:latin typeface="Arial"/>
                <a:cs typeface="Arial"/>
              </a:rPr>
              <a:t>Guide</a:t>
            </a:r>
            <a:r>
              <a:rPr dirty="0" spc="-35"/>
              <a:t>.</a:t>
            </a:r>
            <a:r>
              <a:rPr dirty="0" spc="10"/>
              <a:t> </a:t>
            </a:r>
            <a:r>
              <a:rPr dirty="0" spc="-10"/>
              <a:t>2nd.</a:t>
            </a:r>
            <a:r>
              <a:rPr dirty="0" spc="15"/>
              <a:t> </a:t>
            </a:r>
            <a:r>
              <a:rPr dirty="0" spc="-25"/>
              <a:t>ed.</a:t>
            </a:r>
          </a:p>
          <a:p>
            <a:pPr marL="189230">
              <a:lnSpc>
                <a:spcPts val="1200"/>
              </a:lnSpc>
            </a:pPr>
            <a:r>
              <a:rPr dirty="0" spc="-45"/>
              <a:t>Sebastopol,</a:t>
            </a:r>
            <a:r>
              <a:rPr dirty="0" spc="5"/>
              <a:t> </a:t>
            </a:r>
            <a:r>
              <a:rPr dirty="0" spc="-25"/>
              <a:t>California:</a:t>
            </a:r>
            <a:r>
              <a:rPr dirty="0" spc="100"/>
              <a:t> </a:t>
            </a:r>
            <a:r>
              <a:rPr dirty="0" spc="-20"/>
              <a:t>O’Reilly</a:t>
            </a:r>
            <a:r>
              <a:rPr dirty="0" spc="10"/>
              <a:t> </a:t>
            </a:r>
            <a:r>
              <a:rPr dirty="0" spc="-25"/>
              <a:t>Media,</a:t>
            </a:r>
            <a:r>
              <a:rPr dirty="0" spc="10"/>
              <a:t> </a:t>
            </a:r>
            <a:r>
              <a:rPr dirty="0" spc="-10"/>
              <a:t>2005.</a:t>
            </a:r>
          </a:p>
        </p:txBody>
      </p:sp>
      <p:grpSp>
        <p:nvGrpSpPr>
          <p:cNvPr id="62" name="object 62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63" name="object 63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B0F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961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10"/>
              <a:t>Guimarães,</a:t>
            </a:r>
            <a:r>
              <a:rPr dirty="0" spc="30"/>
              <a:t> </a:t>
            </a:r>
            <a:r>
              <a:rPr dirty="0"/>
              <a:t>I.</a:t>
            </a:r>
            <a:r>
              <a:rPr dirty="0" spc="35"/>
              <a:t> </a:t>
            </a:r>
            <a:r>
              <a:rPr dirty="0"/>
              <a:t>C.</a:t>
            </a:r>
            <a:r>
              <a:rPr dirty="0" spc="204"/>
              <a:t> </a:t>
            </a:r>
            <a:r>
              <a:rPr dirty="0"/>
              <a:t>(ICEA</a:t>
            </a:r>
            <a:r>
              <a:rPr dirty="0" spc="30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10"/>
              <a:t>UFOP)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1807806" y="3342177"/>
            <a:ext cx="99314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Caracterização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Gargalos</a:t>
            </a:r>
            <a:r>
              <a:rPr dirty="0" sz="500" spc="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802.11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2026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Igor Carvalho Guimarães   Professor Orientador: Marlon Paolo Lima  Professor Coorientador: Plínio Roque de Almeida</dc:creator>
  <dc:title>Caracterização de gargalos em redes 802.11 em ambientes de alta densidade: estudo de caso em WLAN universitária</dc:title>
  <dcterms:created xsi:type="dcterms:W3CDTF">2026-08-03T21:25:39Z</dcterms:created>
  <dcterms:modified xsi:type="dcterms:W3CDTF">2026-08-03T21:25:39Z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2026-08-03T00:00:00Z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2026-08-03T00:00:00Z</vt:filetime>
  </property>
  <property fmtid="{D5CDD505-2E9C-101B-9397-08002B2CF9AE}" pid="6" name="PTEX.Fullbanner">
    <vt:lpwstr>This is MiKTeX-pdfTeX 4.23.0 (1.40.28)</vt:lpwstr>
  </property>
  <property fmtid="{D5CDD505-2E9C-101B-9397-08002B2CF9AE}" pid="7" name="Producer">
    <vt:lpwstr>MiKTeX pdfTeX-1.40.28</vt:lpwstr>
  </property>
</Properties>
</file>